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Open cold. This is a live session: the slides are the map, the terminal is the lecture. By the end we turn one of these toy bugs into a shell on a binary with every modern protection on. Don't write anything down yet, watch the chain.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 seconds. Name, what I work on, hobbies, and the GitHub link where students grab the binary and follow along. VR = vulnerability research (say it out loud so no one thinks virtual reality). Keep it brief and get into the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0:00-0:05. Here's how exploitation gets taught: smash the buffer, overwrite the return address, jump to shellcode you placed on the stack. Then kill it in one breath. NX means the stack isn't executable. The canary means you can't blindly overwrite the return address. ASLR means you don't even know where anything is. Every one of these is on by default today. So the rest of the hour is: how do you beat each of these, in order. Milestone: by 5:00 they should know the three defenses by name and that we're going to defeat all of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0:05-0:13. Run checksec live. Walk each row with one sentence. The three ON rows are the hard part. The two weaker ones, no PIE and partial RELRO, are the openings, don't explain them yet, just plant them. No PIE gives us a fixed anchor inside the binary. Partial RELRO is the "hold that thought" for the RELRO discussion at the end. Milestone at 13:00: checksec run, four mitigations named, students can say what NX and a canary each prevent.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slide, say it out loud and let it land. This is the thesis the whole hour hangs on. They will see one bug leak a secret and a different bug use that secret. If they remember one sentence from today, it's this one. Keep it to 30 seconds and move to the first bug.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0:13-0:22. This is the leak that unlocks everything. Source: do_free never nulls the pointer. The trick is the size: 0x420 bytes becomes a 0x430 chunk, over the 0x410 tcache ceiling, so on free it goes to the unsorted bin instead of a tcache bin. A lone unsorted chunk's forward and back pointers point at main_arena, which lives in libc. So reading the freed chunk hands you a libc address, and from it the libc base. Live: alloc 0, alloc 1 as a barrier so chunk 0 isn't merged into the top, free 0, show 0. Point at the 0x7f pointer. Say it plainly: the heap just told us where libc is, that is ASLR defeated. Milestone at 22:00: live libc leak on screen. Heads up, a greedy read() desyncs naive piping, use a proper tube (pwntools) for the live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0:22-0:30. Second leak, different region. Source: line is passed as the format. The teaching contrast: the canary is a STACK secret, so the heap UAF can't touch it, you need a stack read, and a format string is exactly that. Live: %p chain, find the word ending in 00 (that's the canary, its low byte is always 00), then pin the exact position with %N$p. If a sharp student asks why not grab libc here too: you often can, but the point is matching the cheapest primitive to each secret, and the unsorted-bin read is the clean, reliable libc leak. Milestone at 30:00: canary leaked live, both secrets now in hand.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0:30-0:42. Source: 64-byte buffer, 256-byte read, canary guarding the frame. This is where both leaks get spent. Build the chain on screen: padding to the canary, the LEAKED canary back in its slot (bug 2), saved registers, then pop rdi; ret (0x4011ed) into &amp;"/bin/sh" into system, both resolved from the LEAKED libc base (bug 1). There is no system in the binary and no /bin/sh string, so this is the only way through. Run it. Get the shell. id. Watch 16-byte alignment before system, if it crashes on movaps, a lone extra ret fixes it. Milestone at 40:00: live shell, ASLR on. If the clock says 40 and no shell, run the saved known-good script and narrate it. Do NOT debug live past 40:00.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0:40-0:42. Debrief, map on screen the moment the shell pops. Every mitigation fell to a different bug, and now all three bugs are in the table, the UAF earns its place as the libc leak. The clincher: the binary imports no system and holds no /bin/sh, so the overflow genuinely cannot work without the UAF libc leak and the format-string canary leak. Leak, leak, then write. Milestone at 42:00: this map shown, chain debrief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0:42-0:48. Callback: we never touched the GOT, but we could have. Live 60s: readelf -d vuln2 | grep BIND, show the GOT is writable. Walk the two columns. If time, rebuild with -z now -z relro and show the GOT flip to read-only, concrete payoff for one flag. Clear up the common mix-up: a GOT overwrite is a single-process control-flow hijack, not a rootkit, it dies with the process and hides nothing. A rootkit is persistence plus stealth. The lesson: defenses are per-surface. Milestone at 48:00: partial vs full shown, GOT-overwrite path named as what full RELRO closes.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14181F"/>
        </a:solidFill>
      </p:bgPr>
    </p:bg>
    <p:spTree>
      <p:nvGrpSpPr>
        <p:cNvPr id="1" name=""/>
        <p:cNvGrpSpPr/>
        <p:nvPr/>
      </p:nvGrpSpPr>
      <p:grpSpPr>
        <a:xfrm>
          <a:off x="0" y="0"/>
          <a:ext cx="0" cy="0"/>
          <a:chOff x="0" y="0"/>
          <a:chExt cx="0" cy="0"/>
        </a:xfrm>
      </p:grpSpPr>
      <p:sp>
        <p:nvSpPr>
          <p:cNvPr id="2" name="Title Placeholder 1"/>
          <p:cNvSpPr/>
          <p:nvPr>
            <p:ph type="title"/>
          </p:nvPr>
        </p:nvSpPr>
        <p:spPr>
          <a:xfrm>
            <a:off x="1536700" y="812800"/>
            <a:ext cx="6363097" cy="474960"/>
          </a:xfrm>
          <a:prstGeom prst="rect">
            <a:avLst/>
          </a:prstGeom>
          <a:noFill/>
          <a:ln/>
        </p:spPr>
        <p:txBody>
          <a:bodyPr wrap="square" lIns="0" tIns="0" rIns="0" bIns="0" rtlCol="0" anchor="t"/>
          <a:lstStyle>
            <a:lvl1pPr algn="l" indent="0" marL="0">
              <a:lnSpc>
                <a:spcPct val="115000"/>
              </a:lnSpc>
              <a:buNone/>
              <a:defRPr lang="en-US" sz="3400" dirty="0">
                <a:solidFill>
                  <a:srgbClr val="E6E9EF"/>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1536700" y="1592560"/>
            <a:ext cx="9842500" cy="4452640"/>
          </a:xfrm>
          <a:prstGeom prst="rect">
            <a:avLst/>
          </a:prstGeom>
          <a:noFill/>
          <a:ln/>
        </p:spPr>
        <p:txBody>
          <a:bodyPr wrap="square" lIns="0" tIns="0" rIns="0" bIns="0" rtlCol="0" anchor="t"/>
          <a:lstStyle>
            <a:lvl1pPr algn="l" indent="0" marL="0">
              <a:lnSpc>
                <a:spcPct val="140000"/>
              </a:lnSpc>
              <a:buNone/>
              <a:defRPr lang="en-US" sz="1600" dirty="0">
                <a:solidFill>
                  <a:srgbClr val="E6E9EF"/>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14181F"/>
        </a:solidFill>
      </p:bgPr>
    </p:bg>
    <p:spTree>
      <p:nvGrpSpPr>
        <p:cNvPr id="1" name=""/>
        <p:cNvGrpSpPr/>
        <p:nvPr/>
      </p:nvGrpSpPr>
      <p:grpSpPr>
        <a:xfrm>
          <a:off x="0" y="0"/>
          <a:ext cx="0" cy="0"/>
          <a:chOff x="0" y="0"/>
          <a:chExt cx="0" cy="0"/>
        </a:xfrm>
      </p:grpSpPr>
      <p:sp>
        <p:nvSpPr>
          <p:cNvPr id="2" name="Title Placeholder 1"/>
          <p:cNvSpPr/>
          <p:nvPr>
            <p:ph type="title"/>
          </p:nvPr>
        </p:nvSpPr>
        <p:spPr>
          <a:xfrm>
            <a:off x="1536700" y="812800"/>
            <a:ext cx="6363097" cy="474960"/>
          </a:xfrm>
          <a:prstGeom prst="rect">
            <a:avLst/>
          </a:prstGeom>
          <a:noFill/>
          <a:ln/>
        </p:spPr>
        <p:txBody>
          <a:bodyPr wrap="square" lIns="0" tIns="0" rIns="0" bIns="0" rtlCol="0" anchor="t"/>
          <a:lstStyle>
            <a:lvl1pPr algn="l" indent="0" marL="0">
              <a:lnSpc>
                <a:spcPct val="115000"/>
              </a:lnSpc>
              <a:buNone/>
              <a:defRPr lang="en-US" sz="3400" dirty="0">
                <a:solidFill>
                  <a:srgbClr val="E6E9EF"/>
                </a:solidFill>
                <a:latin typeface="IBM Plex Sans" pitchFamily="34" charset="0"/>
                <a:ea typeface="IBM Plex Sans" pitchFamily="34" charset="-122"/>
                <a:cs typeface="IBM Plex Sans" pitchFamily="34" charset="-120"/>
              </a:defRPr>
            </a:lvl1pPr>
          </a:lstStyle>
          <a:p>
            <a:pPr algn="l" indent="0" marL="0">
              <a:lnSpc>
                <a:spcPct val="115000"/>
              </a:lnSpc>
              <a:buNone/>
            </a:pPr>
            <a:endParaRPr lang="en-US" sz="3400" dirty="0"/>
          </a:p>
        </p:txBody>
      </p:sp>
      <p:sp>
        <p:nvSpPr>
          <p:cNvPr id="3" name="Text Placeholder 2"/>
          <p:cNvSpPr/>
          <p:nvPr>
            <p:ph idx="101" type="body"/>
          </p:nvPr>
        </p:nvSpPr>
        <p:spPr>
          <a:xfrm>
            <a:off x="1536700" y="1592560"/>
            <a:ext cx="9842500" cy="4452640"/>
          </a:xfrm>
          <a:prstGeom prst="rect">
            <a:avLst/>
          </a:prstGeom>
          <a:noFill/>
          <a:ln/>
        </p:spPr>
        <p:txBody>
          <a:bodyPr wrap="square" lIns="0" tIns="0" rIns="0" bIns="0" rtlCol="0" anchor="t"/>
          <a:lstStyle>
            <a:lvl1pPr algn="l" indent="0" marL="0">
              <a:lnSpc>
                <a:spcPct val="140000"/>
              </a:lnSpc>
              <a:buNone/>
              <a:defRPr lang="en-US" sz="1600" dirty="0">
                <a:solidFill>
                  <a:srgbClr val="E6E9EF"/>
                </a:solidFill>
                <a:latin typeface="JetBrains Mono" pitchFamily="34" charset="0"/>
                <a:ea typeface="JetBrains Mono" pitchFamily="34" charset="-122"/>
                <a:cs typeface="JetBrains Mono" pitchFamily="34" charset="-120"/>
              </a:defRPr>
            </a:lvl1pPr>
          </a:lstStyle>
          <a:p>
            <a:pPr algn="l" indent="0" marL="0">
              <a:lnSpc>
                <a:spcPct val="140000"/>
              </a:lnSpc>
              <a:buNone/>
            </a:pPr>
            <a:endParaRPr lang="en-US" sz="1600"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samwl1" TargetMode="External"/><Relationship Id="rId1" Type="http://schemas.openxmlformats.org/officeDocument/2006/relationships/image" Target="../media/image-2-1.png"/><Relationship Id="rId3" Type="http://schemas.openxmlformats.org/officeDocument/2006/relationships/slideLayout" Target="../slideLayouts/slideLayout2.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E3A008"/>
                </a:solidFill>
                <a:latin typeface="JetBrains Mono" pitchFamily="49" charset="0"/>
                <a:ea typeface="JetBrains Mono" pitchFamily="49" charset="-122"/>
                <a:cs typeface="JetBrains Mono" pitchFamily="49" charset="-120"/>
              </a:rPr>
              <a:t>BINARY EXPLOITATION / LIVE</a:t>
            </a:r>
            <a:endParaRPr lang="en-US" sz="1400" dirty="0"/>
          </a:p>
        </p:txBody>
      </p:sp>
      <p:sp>
        <p:nvSpPr>
          <p:cNvPr id="3" name="Text 1"/>
          <p:cNvSpPr/>
          <p:nvPr/>
        </p:nvSpPr>
        <p:spPr>
          <a:xfrm>
            <a:off x="812800" y="1137841"/>
            <a:ext cx="10883392"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6B7686"/>
                </a:solidFill>
                <a:latin typeface="JetBrains Mono" pitchFamily="49" charset="0"/>
                <a:ea typeface="JetBrains Mono" pitchFamily="49" charset="-122"/>
                <a:cs typeface="JetBrains Mono" pitchFamily="49" charset="-120"/>
              </a:rPr>
              <a:t>user@lab:~$ ./vuln</a:t>
            </a:r>
            <a:endParaRPr lang="en-US" sz="1200" dirty="0"/>
          </a:p>
        </p:txBody>
      </p:sp>
      <p:sp>
        <p:nvSpPr>
          <p:cNvPr id="4" name="Text 2"/>
          <p:cNvSpPr/>
          <p:nvPr>
            <p:ph type="title"/>
          </p:nvPr>
        </p:nvSpPr>
        <p:spPr>
          <a:xfrm>
            <a:off x="812800" y="2111970"/>
            <a:ext cx="10883392" cy="1930400"/>
          </a:xfrm>
          <a:prstGeom prst="rect">
            <a:avLst/>
          </a:prstGeom>
          <a:noFill/>
          <a:ln/>
        </p:spPr>
        <p:txBody>
          <a:bodyPr wrap="square" lIns="0" tIns="0" rIns="0" bIns="0" rtlCol="0" anchor="t">
            <a:normAutofit/>
          </a:bodyPr>
          <a:lstStyle/>
          <a:p>
            <a:pPr algn="l" indent="0" marL="0">
              <a:lnSpc>
                <a:spcPts val="7500"/>
              </a:lnSpc>
              <a:buNone/>
            </a:pPr>
            <a:r>
              <a:rPr lang="en-US" sz="7500" b="1" i="0" dirty="0">
                <a:solidFill>
                  <a:srgbClr val="E6E9EF"/>
                </a:solidFill>
                <a:latin typeface="IBM Plex Sans" pitchFamily="34" charset="0"/>
                <a:ea typeface="IBM Plex Sans" pitchFamily="34" charset="-122"/>
                <a:cs typeface="IBM Plex Sans" pitchFamily="34" charset="-120"/>
              </a:rPr>
              <a:t>From One Bug</a:t>
            </a:r>
            <a:endParaRPr lang="en-US" sz="7500" dirty="0"/>
          </a:p>
          <a:p>
            <a:pPr algn="l" indent="0" marL="0">
              <a:lnSpc>
                <a:spcPts val="7500"/>
              </a:lnSpc>
              <a:buNone/>
            </a:pPr>
            <a:r>
              <a:rPr lang="en-US" sz="7500" b="1" i="0" dirty="0">
                <a:solidFill>
                  <a:srgbClr val="E6E9EF"/>
                </a:solidFill>
                <a:latin typeface="IBM Plex Sans" pitchFamily="34" charset="0"/>
                <a:ea typeface="IBM Plex Sans" pitchFamily="34" charset="-122"/>
                <a:cs typeface="IBM Plex Sans" pitchFamily="34" charset="-120"/>
              </a:rPr>
              <a:t>to a Shell</a:t>
            </a:r>
            <a:endParaRPr lang="en-US" sz="7500" dirty="0"/>
          </a:p>
        </p:txBody>
      </p:sp>
      <p:sp>
        <p:nvSpPr>
          <p:cNvPr id="5" name="Text 3"/>
          <p:cNvSpPr/>
          <p:nvPr/>
        </p:nvSpPr>
        <p:spPr>
          <a:xfrm>
            <a:off x="812800" y="4220170"/>
            <a:ext cx="9156700" cy="685800"/>
          </a:xfrm>
          <a:prstGeom prst="rect">
            <a:avLst/>
          </a:prstGeom>
          <a:noFill/>
          <a:ln/>
        </p:spPr>
        <p:txBody>
          <a:bodyPr wrap="square" lIns="0" tIns="0" rIns="0" bIns="0" rtlCol="0" anchor="t">
            <a:normAutofit/>
          </a:bodyPr>
          <a:lstStyle/>
          <a:p>
            <a:pPr algn="l" indent="0" marL="0">
              <a:lnSpc>
                <a:spcPts val="2600"/>
              </a:lnSpc>
              <a:buNone/>
            </a:pPr>
            <a:r>
              <a:rPr lang="en-US" sz="2000" dirty="0">
                <a:solidFill>
                  <a:srgbClr val="9AA4B2"/>
                </a:solidFill>
                <a:latin typeface="IBM Plex Sans" pitchFamily="34" charset="0"/>
                <a:ea typeface="IBM Plex Sans" pitchFamily="34" charset="-122"/>
                <a:cs typeface="IBM Plex Sans" pitchFamily="34" charset="-120"/>
              </a:rPr>
              <a:t>Chaining a use-after-free, a format string, and a stack overflow straight past NX, stack canaries, and ASLR.</a:t>
            </a:r>
            <a:endParaRPr lang="en-US" sz="2000" dirty="0"/>
          </a:p>
        </p:txBody>
      </p:sp>
      <p:sp>
        <p:nvSpPr>
          <p:cNvPr id="6" name="Text 4"/>
          <p:cNvSpPr/>
          <p:nvPr/>
        </p:nvSpPr>
        <p:spPr>
          <a:xfrm>
            <a:off x="815975" y="5644555"/>
            <a:ext cx="585490" cy="397470"/>
          </a:xfrm>
          <a:prstGeom prst="roundRect">
            <a:avLst>
              <a:gd name="adj" fmla="val 11982"/>
            </a:avLst>
          </a:prstGeom>
          <a:solidFill>
            <a:srgbClr val="1C2230"/>
          </a:solidFill>
          <a:ln w="6350">
            <a:solidFill>
              <a:srgbClr val="2B3444"/>
            </a:solidFill>
            <a:prstDash val="solid"/>
          </a:ln>
        </p:spPr>
        <p:txBody>
          <a:bodyPr wrap="none" lIns="0" tIns="0" rIns="0" bIns="0" rtlCol="0" anchor="ctr">
            <a:normAutofit/>
          </a:bodyPr>
          <a:lstStyle/>
          <a:p>
            <a:pPr algn="ctr" indent="0" marL="0">
              <a:lnSpc>
                <a:spcPts val="1680"/>
              </a:lnSpc>
              <a:buNone/>
            </a:pPr>
            <a:r>
              <a:rPr lang="en-US" sz="1200" dirty="0">
                <a:solidFill>
                  <a:srgbClr val="E6E9EF"/>
                </a:solidFill>
                <a:latin typeface="JetBrains Mono" pitchFamily="49" charset="0"/>
                <a:ea typeface="JetBrains Mono" pitchFamily="49" charset="-122"/>
                <a:cs typeface="JetBrains Mono" pitchFamily="49" charset="-120"/>
              </a:rPr>
              <a:t>UAF</a:t>
            </a:r>
            <a:endParaRPr lang="en-US" sz="1200" dirty="0"/>
          </a:p>
        </p:txBody>
      </p:sp>
      <p:sp>
        <p:nvSpPr>
          <p:cNvPr id="7" name="Text 5"/>
          <p:cNvSpPr/>
          <p:nvPr/>
        </p:nvSpPr>
        <p:spPr>
          <a:xfrm>
            <a:off x="1509415" y="5644555"/>
            <a:ext cx="1499890" cy="397470"/>
          </a:xfrm>
          <a:prstGeom prst="roundRect">
            <a:avLst>
              <a:gd name="adj" fmla="val 11982"/>
            </a:avLst>
          </a:prstGeom>
          <a:solidFill>
            <a:srgbClr val="1C2230"/>
          </a:solidFill>
          <a:ln w="6350">
            <a:solidFill>
              <a:srgbClr val="2B3444"/>
            </a:solidFill>
            <a:prstDash val="solid"/>
          </a:ln>
        </p:spPr>
        <p:txBody>
          <a:bodyPr wrap="none" lIns="0" tIns="0" rIns="0" bIns="0" rtlCol="0" anchor="ctr">
            <a:normAutofit/>
          </a:bodyPr>
          <a:lstStyle/>
          <a:p>
            <a:pPr algn="ctr" indent="0" marL="0">
              <a:lnSpc>
                <a:spcPts val="1680"/>
              </a:lnSpc>
              <a:buNone/>
            </a:pPr>
            <a:r>
              <a:rPr lang="en-US" sz="1200" dirty="0">
                <a:solidFill>
                  <a:srgbClr val="E6E9EF"/>
                </a:solidFill>
                <a:latin typeface="JetBrains Mono" pitchFamily="49" charset="0"/>
                <a:ea typeface="JetBrains Mono" pitchFamily="49" charset="-122"/>
                <a:cs typeface="JetBrains Mono" pitchFamily="49" charset="-120"/>
              </a:rPr>
              <a:t>format string</a:t>
            </a:r>
            <a:endParaRPr lang="en-US" sz="1200" dirty="0"/>
          </a:p>
        </p:txBody>
      </p:sp>
      <p:sp>
        <p:nvSpPr>
          <p:cNvPr id="8" name="Text 6"/>
          <p:cNvSpPr/>
          <p:nvPr/>
        </p:nvSpPr>
        <p:spPr>
          <a:xfrm>
            <a:off x="3117255" y="5644555"/>
            <a:ext cx="1591370" cy="397470"/>
          </a:xfrm>
          <a:prstGeom prst="roundRect">
            <a:avLst>
              <a:gd name="adj" fmla="val 11982"/>
            </a:avLst>
          </a:prstGeom>
          <a:solidFill>
            <a:srgbClr val="1C2230"/>
          </a:solidFill>
          <a:ln w="6350">
            <a:solidFill>
              <a:srgbClr val="2B3444"/>
            </a:solidFill>
            <a:prstDash val="solid"/>
          </a:ln>
        </p:spPr>
        <p:txBody>
          <a:bodyPr wrap="none" lIns="0" tIns="0" rIns="0" bIns="0" rtlCol="0" anchor="ctr">
            <a:normAutofit/>
          </a:bodyPr>
          <a:lstStyle/>
          <a:p>
            <a:pPr algn="ctr" indent="0" marL="0">
              <a:lnSpc>
                <a:spcPts val="1680"/>
              </a:lnSpc>
              <a:buNone/>
            </a:pPr>
            <a:r>
              <a:rPr lang="en-US" sz="1200" dirty="0">
                <a:solidFill>
                  <a:srgbClr val="E6E9EF"/>
                </a:solidFill>
                <a:latin typeface="JetBrains Mono" pitchFamily="49" charset="0"/>
                <a:ea typeface="JetBrains Mono" pitchFamily="49" charset="-122"/>
                <a:cs typeface="JetBrains Mono" pitchFamily="49" charset="-120"/>
              </a:rPr>
              <a:t>stack overflow</a:t>
            </a:r>
            <a:endParaRPr lang="en-US" sz="1200" dirty="0"/>
          </a:p>
        </p:txBody>
      </p:sp>
      <p:sp>
        <p:nvSpPr>
          <p:cNvPr id="9" name="Text 7"/>
          <p:cNvSpPr/>
          <p:nvPr/>
        </p:nvSpPr>
        <p:spPr>
          <a:xfrm>
            <a:off x="4813399" y="5641380"/>
            <a:ext cx="1128117" cy="403820"/>
          </a:xfrm>
          <a:prstGeom prst="roundRect">
            <a:avLst>
              <a:gd name="adj" fmla="val 12580"/>
            </a:avLst>
          </a:prstGeom>
          <a:solidFill>
            <a:srgbClr val="4AC97E"/>
          </a:solidFill>
          <a:ln/>
        </p:spPr>
        <p:txBody>
          <a:bodyPr wrap="none" lIns="0" tIns="0" rIns="0" bIns="0" rtlCol="0" anchor="ctr">
            <a:normAutofit/>
          </a:bodyPr>
          <a:lstStyle/>
          <a:p>
            <a:pPr algn="ctr" indent="0" marL="0">
              <a:lnSpc>
                <a:spcPts val="1680"/>
              </a:lnSpc>
              <a:buNone/>
            </a:pPr>
            <a:r>
              <a:rPr lang="en-US" sz="1200" dirty="0">
                <a:solidFill>
                  <a:srgbClr val="14181F"/>
                </a:solidFill>
                <a:latin typeface="JetBrains Mono" pitchFamily="49" charset="0"/>
                <a:ea typeface="JetBrains Mono" pitchFamily="49" charset="-122"/>
                <a:cs typeface="JetBrains Mono" pitchFamily="49" charset="-120"/>
              </a:rPr>
              <a:t>→ /bin/sh</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812800" y="812800"/>
            <a:ext cx="10883392" cy="274241"/>
          </a:xfrm>
          <a:prstGeom prst="rect">
            <a:avLst/>
          </a:prstGeom>
          <a:noFill/>
          <a:ln/>
        </p:spPr>
        <p:txBody>
          <a:bodyPr wrap="square" lIns="0" tIns="0" rIns="0" bIns="0" rtlCol="0" anchor="t">
            <a:normAutofit/>
          </a:bodyPr>
          <a:lstStyle/>
          <a:p>
            <a:pPr algn="l" indent="0" marL="0">
              <a:lnSpc>
                <a:spcPts val="1960"/>
              </a:lnSpc>
              <a:buNone/>
            </a:pPr>
            <a:r>
              <a:rPr lang="en-US" sz="1400" spc="100" kern="0" dirty="0">
                <a:solidFill>
                  <a:srgbClr val="E3A008"/>
                </a:solidFill>
                <a:latin typeface="JetBrains Mono" pitchFamily="49" charset="0"/>
                <a:ea typeface="JetBrains Mono" pitchFamily="49" charset="-122"/>
                <a:cs typeface="JetBrains Mono" pitchFamily="49" charset="-120"/>
              </a:rPr>
              <a:t>WHOAMI</a:t>
            </a:r>
            <a:endParaRPr lang="en-US" sz="1400" dirty="0"/>
          </a:p>
        </p:txBody>
      </p:sp>
      <p:sp>
        <p:nvSpPr>
          <p:cNvPr id="3" name="Text 1"/>
          <p:cNvSpPr/>
          <p:nvPr>
            <p:ph type="title"/>
          </p:nvPr>
        </p:nvSpPr>
        <p:spPr>
          <a:xfrm>
            <a:off x="812800" y="1125141"/>
            <a:ext cx="10883392" cy="635000"/>
          </a:xfrm>
          <a:prstGeom prst="rect">
            <a:avLst/>
          </a:prstGeom>
          <a:noFill/>
          <a:ln/>
        </p:spPr>
        <p:txBody>
          <a:bodyPr wrap="square" lIns="0" tIns="0" rIns="0" bIns="0" rtlCol="0" anchor="t">
            <a:normAutofit/>
          </a:bodyPr>
          <a:lstStyle/>
          <a:p>
            <a:pPr algn="l" indent="0" marL="0">
              <a:lnSpc>
                <a:spcPts val="4800"/>
              </a:lnSpc>
              <a:buNone/>
            </a:pPr>
            <a:r>
              <a:rPr lang="en-US" sz="4800" b="1" i="0" dirty="0">
                <a:solidFill>
                  <a:srgbClr val="E6E9EF"/>
                </a:solidFill>
                <a:latin typeface="IBM Plex Sans" pitchFamily="34" charset="0"/>
                <a:ea typeface="IBM Plex Sans" pitchFamily="34" charset="-122"/>
                <a:cs typeface="IBM Plex Sans" pitchFamily="34" charset="-120"/>
              </a:rPr>
              <a:t>Sam Long</a:t>
            </a:r>
            <a:endParaRPr lang="en-US" sz="4800" dirty="0"/>
          </a:p>
        </p:txBody>
      </p:sp>
      <p:sp>
        <p:nvSpPr>
          <p:cNvPr id="4" name="Text 2"/>
          <p:cNvSpPr/>
          <p:nvPr/>
        </p:nvSpPr>
        <p:spPr>
          <a:xfrm>
            <a:off x="812800" y="1798241"/>
            <a:ext cx="10883392" cy="322560"/>
          </a:xfrm>
          <a:prstGeom prst="rect">
            <a:avLst/>
          </a:prstGeom>
          <a:noFill/>
          <a:ln/>
        </p:spPr>
        <p:txBody>
          <a:bodyPr wrap="square" lIns="0" tIns="0" rIns="0" bIns="0" rtlCol="0" anchor="t">
            <a:normAutofit/>
          </a:bodyPr>
          <a:lstStyle/>
          <a:p>
            <a:pPr algn="l" indent="0" marL="0">
              <a:lnSpc>
                <a:spcPts val="2340"/>
              </a:lnSpc>
              <a:buNone/>
            </a:pPr>
            <a:r>
              <a:rPr lang="en-US" sz="1800" dirty="0">
                <a:solidFill>
                  <a:srgbClr val="9AA4B2"/>
                </a:solidFill>
                <a:latin typeface="IBM Plex Sans" pitchFamily="34" charset="0"/>
                <a:ea typeface="IBM Plex Sans" pitchFamily="34" charset="-122"/>
                <a:cs typeface="IBM Plex Sans" pitchFamily="34" charset="-120"/>
              </a:rPr>
              <a:t>Senior Cyber Engineer at Nightwing-CODEX</a:t>
            </a:r>
            <a:endParaRPr lang="en-US" sz="1800" dirty="0"/>
          </a:p>
        </p:txBody>
      </p:sp>
      <p:sp>
        <p:nvSpPr>
          <p:cNvPr id="5" name="Shape 3"/>
          <p:cNvSpPr/>
          <p:nvPr/>
        </p:nvSpPr>
        <p:spPr>
          <a:xfrm>
            <a:off x="815975" y="2576215"/>
            <a:ext cx="5149850" cy="2335510"/>
          </a:xfrm>
          <a:prstGeom prst="roundRect">
            <a:avLst>
              <a:gd name="adj" fmla="val 4214"/>
            </a:avLst>
          </a:prstGeom>
          <a:solidFill>
            <a:srgbClr val="1C2230"/>
          </a:solidFill>
          <a:ln w="6350">
            <a:solidFill>
              <a:srgbClr val="2B3444"/>
            </a:solidFill>
            <a:prstDash val="solid"/>
          </a:ln>
        </p:spPr>
      </p:sp>
      <p:sp>
        <p:nvSpPr>
          <p:cNvPr id="6" name="Text 4"/>
          <p:cNvSpPr/>
          <p:nvPr/>
        </p:nvSpPr>
        <p:spPr>
          <a:xfrm>
            <a:off x="1073150" y="2833390"/>
            <a:ext cx="4774565" cy="20826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E3A008"/>
                </a:solidFill>
                <a:latin typeface="JetBrains Mono" pitchFamily="49" charset="0"/>
                <a:ea typeface="JetBrains Mono" pitchFamily="49" charset="-122"/>
                <a:cs typeface="JetBrains Mono" pitchFamily="49" charset="-120"/>
              </a:rPr>
              <a:t>WORK</a:t>
            </a:r>
            <a:endParaRPr lang="en-US" sz="1200" dirty="0"/>
          </a:p>
        </p:txBody>
      </p:sp>
      <p:sp>
        <p:nvSpPr>
          <p:cNvPr id="7" name="Text 5"/>
          <p:cNvSpPr/>
          <p:nvPr/>
        </p:nvSpPr>
        <p:spPr>
          <a:xfrm>
            <a:off x="1093470" y="3130550"/>
            <a:ext cx="4748149" cy="1549400"/>
          </a:xfrm>
          <a:prstGeom prst="rect">
            <a:avLst/>
          </a:prstGeom>
          <a:noFill/>
          <a:ln/>
        </p:spPr>
        <p:txBody>
          <a:bodyPr wrap="square" lIns="0" tIns="0" rIns="0" bIns="0" rtlCol="0" anchor="t">
            <a:normAutofit/>
          </a:bodyPr>
          <a:lstStyle/>
          <a:p>
            <a:pPr algn="l" marL="182880" indent="-182880">
              <a:lnSpc>
                <a:spcPts val="3000"/>
              </a:lnSpc>
              <a:buSzPct val="100000"/>
              <a:buChar char="•"/>
            </a:pPr>
            <a:r>
              <a:rPr lang="en-US" sz="1500" dirty="0">
                <a:solidFill>
                  <a:srgbClr val="E6E9EF"/>
                </a:solidFill>
                <a:latin typeface="IBM Plex Sans" pitchFamily="34" charset="0"/>
                <a:ea typeface="IBM Plex Sans" pitchFamily="34" charset="-122"/>
                <a:cs typeface="IBM Plex Sans" pitchFamily="34" charset="-120"/>
              </a:rPr>
              <a:t>Emulation development</a:t>
            </a:r>
            <a:endParaRPr lang="en-US" sz="1500" dirty="0"/>
          </a:p>
          <a:p>
            <a:pPr algn="l" marL="182880" indent="-182880">
              <a:lnSpc>
                <a:spcPts val="3000"/>
              </a:lnSpc>
              <a:buSzPct val="100000"/>
              <a:buChar char="•"/>
            </a:pPr>
            <a:r>
              <a:rPr lang="en-US" sz="1500" dirty="0">
                <a:solidFill>
                  <a:srgbClr val="E6E9EF"/>
                </a:solidFill>
                <a:latin typeface="IBM Plex Sans" pitchFamily="34" charset="0"/>
                <a:ea typeface="IBM Plex Sans" pitchFamily="34" charset="-122"/>
                <a:cs typeface="IBM Plex Sans" pitchFamily="34" charset="-120"/>
              </a:rPr>
              <a:t>Vulnerability research</a:t>
            </a:r>
            <a:endParaRPr lang="en-US" sz="1500" dirty="0"/>
          </a:p>
          <a:p>
            <a:pPr algn="l" marL="182880" indent="-182880">
              <a:lnSpc>
                <a:spcPts val="3000"/>
              </a:lnSpc>
              <a:buSzPct val="100000"/>
              <a:buChar char="•"/>
            </a:pPr>
            <a:r>
              <a:rPr lang="en-US" sz="1500" dirty="0">
                <a:solidFill>
                  <a:srgbClr val="E6E9EF"/>
                </a:solidFill>
                <a:latin typeface="IBM Plex Sans" pitchFamily="34" charset="0"/>
                <a:ea typeface="IBM Plex Sans" pitchFamily="34" charset="-122"/>
                <a:cs typeface="IBM Plex Sans" pitchFamily="34" charset="-120"/>
              </a:rPr>
              <a:t>Software/Exploit Development</a:t>
            </a:r>
            <a:endParaRPr lang="en-US" sz="1500" dirty="0"/>
          </a:p>
          <a:p>
            <a:pPr algn="l" marL="182880" indent="-182880">
              <a:lnSpc>
                <a:spcPts val="3000"/>
              </a:lnSpc>
              <a:buSzPct val="100000"/>
              <a:buChar char="•"/>
            </a:pPr>
            <a:r>
              <a:rPr lang="en-US" sz="1500" dirty="0">
                <a:solidFill>
                  <a:srgbClr val="E6E9EF"/>
                </a:solidFill>
                <a:latin typeface="IBM Plex Sans" pitchFamily="34" charset="0"/>
                <a:ea typeface="IBM Plex Sans" pitchFamily="34" charset="-122"/>
                <a:cs typeface="IBM Plex Sans" pitchFamily="34" charset="-120"/>
              </a:rPr>
              <a:t>Intern Wrangler</a:t>
            </a:r>
            <a:endParaRPr lang="en-US" sz="1500" dirty="0"/>
          </a:p>
        </p:txBody>
      </p:sp>
      <p:sp>
        <p:nvSpPr>
          <p:cNvPr id="8" name="Shape 6"/>
          <p:cNvSpPr/>
          <p:nvPr/>
        </p:nvSpPr>
        <p:spPr>
          <a:xfrm>
            <a:off x="6226175" y="2576215"/>
            <a:ext cx="5149850" cy="2335510"/>
          </a:xfrm>
          <a:prstGeom prst="roundRect">
            <a:avLst>
              <a:gd name="adj" fmla="val 4214"/>
            </a:avLst>
          </a:prstGeom>
          <a:solidFill>
            <a:srgbClr val="1C2230"/>
          </a:solidFill>
          <a:ln w="6350">
            <a:solidFill>
              <a:srgbClr val="2B3444"/>
            </a:solidFill>
            <a:prstDash val="solid"/>
          </a:ln>
        </p:spPr>
      </p:sp>
      <p:sp>
        <p:nvSpPr>
          <p:cNvPr id="9" name="Text 7"/>
          <p:cNvSpPr/>
          <p:nvPr/>
        </p:nvSpPr>
        <p:spPr>
          <a:xfrm>
            <a:off x="6483350" y="2833390"/>
            <a:ext cx="4774565" cy="208260"/>
          </a:xfrm>
          <a:prstGeom prst="rect">
            <a:avLst/>
          </a:prstGeom>
          <a:noFill/>
          <a:ln/>
        </p:spPr>
        <p:txBody>
          <a:bodyPr wrap="square" lIns="0" tIns="0" rIns="0" bIns="0" rtlCol="0" anchor="t">
            <a:normAutofit/>
          </a:bodyPr>
          <a:lstStyle/>
          <a:p>
            <a:pPr algn="l" indent="0" marL="0">
              <a:lnSpc>
                <a:spcPts val="1440"/>
              </a:lnSpc>
              <a:buNone/>
            </a:pPr>
            <a:r>
              <a:rPr lang="en-US" sz="1200" b="1" spc="50" kern="0" dirty="0">
                <a:solidFill>
                  <a:srgbClr val="E3A008"/>
                </a:solidFill>
                <a:latin typeface="JetBrains Mono" pitchFamily="49" charset="0"/>
                <a:ea typeface="JetBrains Mono" pitchFamily="49" charset="-122"/>
                <a:cs typeface="JetBrains Mono" pitchFamily="49" charset="-120"/>
              </a:rPr>
              <a:t>OFF THE CLOCK</a:t>
            </a:r>
            <a:endParaRPr lang="en-US" sz="1200" dirty="0"/>
          </a:p>
        </p:txBody>
      </p:sp>
      <p:sp>
        <p:nvSpPr>
          <p:cNvPr id="10" name="Text 8"/>
          <p:cNvSpPr/>
          <p:nvPr/>
        </p:nvSpPr>
        <p:spPr>
          <a:xfrm>
            <a:off x="6503670" y="3130550"/>
            <a:ext cx="4748149" cy="1549400"/>
          </a:xfrm>
          <a:prstGeom prst="rect">
            <a:avLst/>
          </a:prstGeom>
          <a:noFill/>
          <a:ln/>
        </p:spPr>
        <p:txBody>
          <a:bodyPr wrap="square" lIns="0" tIns="0" rIns="0" bIns="0" rtlCol="0" anchor="t">
            <a:normAutofit/>
          </a:bodyPr>
          <a:lstStyle/>
          <a:p>
            <a:pPr algn="l" marL="182880" indent="-182880">
              <a:lnSpc>
                <a:spcPts val="3000"/>
              </a:lnSpc>
              <a:buSzPct val="100000"/>
              <a:buChar char="•"/>
            </a:pPr>
            <a:r>
              <a:rPr lang="en-US" sz="1500" dirty="0">
                <a:solidFill>
                  <a:srgbClr val="E6E9EF"/>
                </a:solidFill>
                <a:latin typeface="IBM Plex Sans" pitchFamily="34" charset="0"/>
                <a:ea typeface="IBM Plex Sans" pitchFamily="34" charset="-122"/>
                <a:cs typeface="IBM Plex Sans" pitchFamily="34" charset="-120"/>
              </a:rPr>
              <a:t>Indie video game development</a:t>
            </a:r>
            <a:endParaRPr lang="en-US" sz="1500" dirty="0"/>
          </a:p>
          <a:p>
            <a:pPr algn="l" marL="182880" indent="-182880">
              <a:lnSpc>
                <a:spcPts val="3000"/>
              </a:lnSpc>
              <a:buSzPct val="100000"/>
              <a:buChar char="•"/>
            </a:pPr>
            <a:r>
              <a:rPr lang="en-US" sz="1500" dirty="0">
                <a:solidFill>
                  <a:srgbClr val="E6E9EF"/>
                </a:solidFill>
                <a:latin typeface="IBM Plex Sans" pitchFamily="34" charset="0"/>
                <a:ea typeface="IBM Plex Sans" pitchFamily="34" charset="-122"/>
                <a:cs typeface="IBM Plex Sans" pitchFamily="34" charset="-120"/>
              </a:rPr>
              <a:t>Surfing</a:t>
            </a:r>
            <a:endParaRPr lang="en-US" sz="1500" dirty="0"/>
          </a:p>
          <a:p>
            <a:pPr algn="l" marL="182880" indent="-182880">
              <a:lnSpc>
                <a:spcPts val="3000"/>
              </a:lnSpc>
              <a:buSzPct val="100000"/>
              <a:buChar char="•"/>
            </a:pPr>
            <a:r>
              <a:rPr lang="en-US" sz="1500" dirty="0">
                <a:solidFill>
                  <a:srgbClr val="E6E9EF"/>
                </a:solidFill>
                <a:latin typeface="IBM Plex Sans" pitchFamily="34" charset="0"/>
                <a:ea typeface="IBM Plex Sans" pitchFamily="34" charset="-122"/>
                <a:cs typeface="IBM Plex Sans" pitchFamily="34" charset="-120"/>
              </a:rPr>
              <a:t>Sports</a:t>
            </a:r>
            <a:endParaRPr lang="en-US" sz="1500" dirty="0"/>
          </a:p>
          <a:p>
            <a:pPr algn="l" marL="182880" indent="-182880">
              <a:lnSpc>
                <a:spcPts val="3000"/>
              </a:lnSpc>
              <a:buSzPct val="100000"/>
              <a:buChar char="•"/>
            </a:pPr>
            <a:r>
              <a:rPr lang="en-US" sz="1500" dirty="0">
                <a:solidFill>
                  <a:srgbClr val="E6E9EF"/>
                </a:solidFill>
                <a:latin typeface="IBM Plex Sans" pitchFamily="34" charset="0"/>
                <a:ea typeface="IBM Plex Sans" pitchFamily="34" charset="-122"/>
                <a:cs typeface="IBM Plex Sans" pitchFamily="34" charset="-120"/>
              </a:rPr>
              <a:t>Photography</a:t>
            </a:r>
            <a:endParaRPr lang="en-US" sz="1500" dirty="0"/>
          </a:p>
        </p:txBody>
      </p:sp>
      <p:sp>
        <p:nvSpPr>
          <p:cNvPr id="11" name="Shape 9"/>
          <p:cNvSpPr/>
          <p:nvPr/>
        </p:nvSpPr>
        <p:spPr>
          <a:xfrm>
            <a:off x="815975" y="5395615"/>
            <a:ext cx="10560050" cy="646410"/>
          </a:xfrm>
          <a:prstGeom prst="roundRect">
            <a:avLst>
              <a:gd name="adj" fmla="val 11297"/>
            </a:avLst>
          </a:prstGeom>
          <a:solidFill>
            <a:srgbClr val="1C2230"/>
          </a:solidFill>
          <a:ln w="6350">
            <a:solidFill>
              <a:srgbClr val="2B3444"/>
            </a:solidFill>
            <a:prstDash val="solid"/>
          </a:ln>
        </p:spPr>
      </p:sp>
      <p:pic>
        <p:nvPicPr>
          <p:cNvPr id="12" name="Image 0" descr="Code">    </p:cNvPr>
          <p:cNvPicPr>
            <a:picLocks noChangeAspect="1"/>
          </p:cNvPicPr>
          <p:nvPr/>
        </p:nvPicPr>
        <p:blipFill>
          <a:blip r:embed="rId1"/>
          <a:srcRect l="0" r="0" t="0" b="0"/>
          <a:stretch/>
        </p:blipFill>
        <p:spPr>
          <a:xfrm>
            <a:off x="1047750" y="5591770"/>
            <a:ext cx="254000" cy="254000"/>
          </a:xfrm>
          <a:prstGeom prst="rect">
            <a:avLst/>
          </a:prstGeom>
        </p:spPr>
      </p:pic>
      <p:sp>
        <p:nvSpPr>
          <p:cNvPr id="13" name="Text 10"/>
          <p:cNvSpPr/>
          <p:nvPr/>
        </p:nvSpPr>
        <p:spPr>
          <a:xfrm>
            <a:off x="1428750" y="5576590"/>
            <a:ext cx="2487216" cy="309860"/>
          </a:xfrm>
          <a:prstGeom prst="rect">
            <a:avLst/>
          </a:prstGeom>
          <a:noFill/>
          <a:ln/>
        </p:spPr>
        <p:txBody>
          <a:bodyPr wrap="square" lIns="0" tIns="0" rIns="0" bIns="0" rtlCol="0" anchor="t">
            <a:normAutofit/>
          </a:bodyPr>
          <a:lstStyle/>
          <a:p>
            <a:pPr algn="l" indent="0" marL="0">
              <a:lnSpc>
                <a:spcPts val="2240"/>
              </a:lnSpc>
              <a:buNone/>
            </a:pPr>
            <a:r>
              <a:rPr lang="en-US" sz="1600" u="sng" dirty="0">
                <a:solidFill>
                  <a:srgbClr val="4AC97E"/>
                </a:solidFill>
                <a:latin typeface="JetBrains Mono" pitchFamily="49" charset="0"/>
                <a:ea typeface="JetBrains Mono" pitchFamily="49" charset="-122"/>
                <a:cs typeface="JetBrains Mono" pitchFamily="49" charset="-120"/>
                <a:hlinkClick r:id="rId2" invalidUrl="" action="" tgtFrame="" tooltip="" history="1" highlightClick="0" endSnd="0">
                  <a:extLst>
                    <a:ext uri="{A12FA001-AC4F-418D-AE19-62706E023703}">
                      <ahyp:hlinkClr xmlns:ahyp="http://schemas.microsoft.com/office/drawing/2018/hyperlinkcolor" val="tx"/>
                    </a:ext>
                  </a:extLst>
                </a:hlinkClick>
              </a:rPr>
              <a:t>github.com/samwl1</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E3A008"/>
                </a:solidFill>
                <a:latin typeface="JetBrains Mono" pitchFamily="49" charset="0"/>
                <a:ea typeface="JetBrains Mono" pitchFamily="49" charset="-122"/>
                <a:cs typeface="JetBrains Mono" pitchFamily="49" charset="-120"/>
              </a:rPr>
              <a:t>THE BEGINNER EXPLOIT</a:t>
            </a:r>
            <a:endParaRPr lang="en-US" sz="1300" dirty="0"/>
          </a:p>
        </p:txBody>
      </p:sp>
      <p:sp>
        <p:nvSpPr>
          <p:cNvPr id="3" name="Text 1"/>
          <p:cNvSpPr/>
          <p:nvPr>
            <p:ph type="title"/>
          </p:nvPr>
        </p:nvSpPr>
        <p:spPr>
          <a:xfrm>
            <a:off x="812800" y="1120080"/>
            <a:ext cx="10883392" cy="528241"/>
          </a:xfrm>
          <a:prstGeom prst="rect">
            <a:avLst/>
          </a:prstGeom>
          <a:noFill/>
          <a:ln/>
        </p:spPr>
        <p:txBody>
          <a:bodyPr wrap="square" lIns="0" tIns="0" rIns="0" bIns="0" rtlCol="0" anchor="t">
            <a:normAutofit/>
          </a:bodyPr>
          <a:lstStyle/>
          <a:p>
            <a:pPr algn="l" indent="0" marL="0">
              <a:lnSpc>
                <a:spcPts val="3960"/>
              </a:lnSpc>
              <a:buNone/>
            </a:pPr>
            <a:r>
              <a:rPr lang="en-US" sz="3600" b="1" i="0" dirty="0">
                <a:solidFill>
                  <a:srgbClr val="E6E9EF"/>
                </a:solidFill>
                <a:latin typeface="IBM Plex Sans" pitchFamily="34" charset="0"/>
                <a:ea typeface="IBM Plex Sans" pitchFamily="34" charset="-122"/>
                <a:cs typeface="IBM Plex Sans" pitchFamily="34" charset="-120"/>
              </a:rPr>
              <a:t>Overflow the buffer, land on your shellcode</a:t>
            </a:r>
            <a:endParaRPr lang="en-US" sz="3600" dirty="0"/>
          </a:p>
        </p:txBody>
      </p:sp>
      <p:sp>
        <p:nvSpPr>
          <p:cNvPr id="4" name="Shape 2"/>
          <p:cNvSpPr/>
          <p:nvPr/>
        </p:nvSpPr>
        <p:spPr>
          <a:xfrm>
            <a:off x="815975" y="1981696"/>
            <a:ext cx="5149850" cy="2178050"/>
          </a:xfrm>
          <a:prstGeom prst="roundRect">
            <a:avLst>
              <a:gd name="adj" fmla="val 4519"/>
            </a:avLst>
          </a:prstGeom>
          <a:solidFill>
            <a:srgbClr val="1C2230"/>
          </a:solidFill>
          <a:ln w="6350">
            <a:solidFill>
              <a:srgbClr val="2B3444"/>
            </a:solidFill>
            <a:prstDash val="solid"/>
          </a:ln>
        </p:spPr>
      </p:sp>
      <p:sp>
        <p:nvSpPr>
          <p:cNvPr id="5" name="Text 3"/>
          <p:cNvSpPr/>
          <p:nvPr/>
        </p:nvSpPr>
        <p:spPr>
          <a:xfrm>
            <a:off x="1073150" y="2238871"/>
            <a:ext cx="4774565" cy="1016000"/>
          </a:xfrm>
          <a:prstGeom prst="rect">
            <a:avLst/>
          </a:prstGeom>
          <a:noFill/>
          <a:ln/>
        </p:spPr>
        <p:txBody>
          <a:bodyPr wrap="square" lIns="0" tIns="0" rIns="0" bIns="0" rtlCol="0" anchor="t">
            <a:normAutofit/>
          </a:bodyPr>
          <a:lstStyle/>
          <a:p>
            <a:pPr algn="l" indent="0" marL="0">
              <a:lnSpc>
                <a:spcPts val="1950"/>
              </a:lnSpc>
              <a:buNone/>
            </a:pPr>
            <a:r>
              <a:rPr lang="en-US" sz="1300" dirty="0">
                <a:solidFill>
                  <a:srgbClr val="9AA4B2"/>
                </a:solidFill>
                <a:latin typeface="JetBrains Mono" pitchFamily="49" charset="0"/>
                <a:ea typeface="JetBrains Mono" pitchFamily="49" charset="-122"/>
                <a:cs typeface="JetBrains Mono" pitchFamily="49" charset="-120"/>
              </a:rPr>
              <a:t>char buf[64];</a:t>
            </a:r>
            <a:endParaRPr lang="en-US" sz="1300" dirty="0"/>
          </a:p>
          <a:p>
            <a:pPr algn="l" indent="0" marL="0">
              <a:lnSpc>
                <a:spcPts val="1950"/>
              </a:lnSpc>
              <a:buNone/>
            </a:pPr>
            <a:r>
              <a:rPr lang="en-US" sz="1300" dirty="0">
                <a:solidFill>
                  <a:srgbClr val="9AA4B2"/>
                </a:solidFill>
                <a:latin typeface="JetBrains Mono" pitchFamily="49" charset="0"/>
                <a:ea typeface="JetBrains Mono" pitchFamily="49" charset="-122"/>
                <a:cs typeface="JetBrains Mono" pitchFamily="49" charset="-120"/>
              </a:rPr>
              <a:t>gets(buf);</a:t>
            </a:r>
            <a:endParaRPr lang="en-US" sz="1300" dirty="0"/>
          </a:p>
          <a:p>
            <a:pPr algn="l" indent="0" marL="0">
              <a:lnSpc>
                <a:spcPts val="1950"/>
              </a:lnSpc>
              <a:buNone/>
            </a:pPr>
            <a:r>
              <a:rPr lang="en-US" sz="1300" dirty="0">
                <a:solidFill>
                  <a:srgbClr val="6B7686"/>
                </a:solidFill>
                <a:latin typeface="JetBrains Mono" pitchFamily="49" charset="0"/>
                <a:ea typeface="JetBrains Mono" pitchFamily="49" charset="-122"/>
                <a:cs typeface="JetBrains Mono" pitchFamily="49" charset="-120"/>
              </a:rPr>
              <a:t>// write past buf, overwrite</a:t>
            </a:r>
            <a:endParaRPr lang="en-US" sz="1300" dirty="0"/>
          </a:p>
          <a:p>
            <a:pPr algn="l" indent="0" marL="0">
              <a:lnSpc>
                <a:spcPts val="1950"/>
              </a:lnSpc>
              <a:buNone/>
            </a:pPr>
            <a:r>
              <a:rPr lang="en-US" sz="1300" dirty="0">
                <a:solidFill>
                  <a:srgbClr val="6B7686"/>
                </a:solidFill>
                <a:latin typeface="JetBrains Mono" pitchFamily="49" charset="0"/>
                <a:ea typeface="JetBrains Mono" pitchFamily="49" charset="-122"/>
                <a:cs typeface="JetBrains Mono" pitchFamily="49" charset="-120"/>
              </a:rPr>
              <a:t>// saved RIP, jump into buf</a:t>
            </a:r>
            <a:endParaRPr lang="en-US" sz="1300" dirty="0"/>
          </a:p>
        </p:txBody>
      </p:sp>
      <p:sp>
        <p:nvSpPr>
          <p:cNvPr id="6" name="Shape 4"/>
          <p:cNvSpPr/>
          <p:nvPr/>
        </p:nvSpPr>
        <p:spPr>
          <a:xfrm>
            <a:off x="6226175" y="1981696"/>
            <a:ext cx="5149850" cy="2178050"/>
          </a:xfrm>
          <a:prstGeom prst="roundRect">
            <a:avLst>
              <a:gd name="adj" fmla="val 4519"/>
            </a:avLst>
          </a:prstGeom>
          <a:solidFill>
            <a:srgbClr val="241A1A"/>
          </a:solidFill>
          <a:ln w="6350">
            <a:solidFill>
              <a:srgbClr val="5A2D2D"/>
            </a:solidFill>
            <a:prstDash val="solid"/>
          </a:ln>
        </p:spPr>
      </p:sp>
      <p:sp>
        <p:nvSpPr>
          <p:cNvPr id="7" name="Text 5"/>
          <p:cNvSpPr/>
          <p:nvPr/>
        </p:nvSpPr>
        <p:spPr>
          <a:xfrm>
            <a:off x="6483350" y="2238871"/>
            <a:ext cx="4774565" cy="5588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08A8A"/>
                </a:solidFill>
                <a:latin typeface="IBM Plex Sans" pitchFamily="34" charset="0"/>
                <a:ea typeface="IBM Plex Sans" pitchFamily="34" charset="-122"/>
                <a:cs typeface="IBM Plex Sans" pitchFamily="34" charset="-120"/>
              </a:rPr>
              <a:t>Obviously this could not continue. Enter *mitigations*:</a:t>
            </a:r>
            <a:endParaRPr lang="en-US" sz="1500" dirty="0"/>
          </a:p>
        </p:txBody>
      </p:sp>
      <p:sp>
        <p:nvSpPr>
          <p:cNvPr id="8" name="Text 6"/>
          <p:cNvSpPr/>
          <p:nvPr/>
        </p:nvSpPr>
        <p:spPr>
          <a:xfrm>
            <a:off x="6483350" y="2924671"/>
            <a:ext cx="48895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0B429"/>
                </a:solidFill>
                <a:latin typeface="IBM Plex Sans" pitchFamily="34" charset="0"/>
                <a:ea typeface="IBM Plex Sans" pitchFamily="34" charset="-122"/>
                <a:cs typeface="IBM Plex Sans" pitchFamily="34" charset="-120"/>
              </a:rPr>
              <a:t>NX</a:t>
            </a:r>
            <a:r>
              <a:rPr lang="en-US" sz="1500" dirty="0">
                <a:solidFill>
                  <a:srgbClr val="E6E9EF"/>
                </a:solidFill>
                <a:latin typeface="IBM Plex Sans" pitchFamily="34" charset="0"/>
                <a:ea typeface="IBM Plex Sans" pitchFamily="34" charset="-122"/>
                <a:cs typeface="IBM Plex Sans" pitchFamily="34" charset="-120"/>
              </a:rPr>
              <a:t>  the stack isn't executable and shellcode won't run</a:t>
            </a:r>
            <a:endParaRPr lang="en-US" sz="1500" dirty="0"/>
          </a:p>
        </p:txBody>
      </p:sp>
      <p:sp>
        <p:nvSpPr>
          <p:cNvPr id="9" name="Text 7"/>
          <p:cNvSpPr/>
          <p:nvPr/>
        </p:nvSpPr>
        <p:spPr>
          <a:xfrm>
            <a:off x="6483350" y="3280271"/>
            <a:ext cx="477456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0B429"/>
                </a:solidFill>
                <a:latin typeface="IBM Plex Sans" pitchFamily="34" charset="0"/>
                <a:ea typeface="IBM Plex Sans" pitchFamily="34" charset="-122"/>
                <a:cs typeface="IBM Plex Sans" pitchFamily="34" charset="-120"/>
              </a:rPr>
              <a:t>Canary</a:t>
            </a:r>
            <a:r>
              <a:rPr lang="en-US" sz="1500" dirty="0">
                <a:solidFill>
                  <a:srgbClr val="E6E9EF"/>
                </a:solidFill>
                <a:latin typeface="IBM Plex Sans" pitchFamily="34" charset="0"/>
                <a:ea typeface="IBM Plex Sans" pitchFamily="34" charset="-122"/>
                <a:cs typeface="IBM Plex Sans" pitchFamily="34" charset="-120"/>
              </a:rPr>
              <a:t>  a secret value guards the return address</a:t>
            </a:r>
            <a:endParaRPr lang="en-US" sz="1500" dirty="0"/>
          </a:p>
        </p:txBody>
      </p:sp>
      <p:sp>
        <p:nvSpPr>
          <p:cNvPr id="10" name="Text 8"/>
          <p:cNvSpPr/>
          <p:nvPr/>
        </p:nvSpPr>
        <p:spPr>
          <a:xfrm>
            <a:off x="6483350" y="3635871"/>
            <a:ext cx="4774565"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F0B429"/>
                </a:solidFill>
                <a:latin typeface="IBM Plex Sans" pitchFamily="34" charset="0"/>
                <a:ea typeface="IBM Plex Sans" pitchFamily="34" charset="-122"/>
                <a:cs typeface="IBM Plex Sans" pitchFamily="34" charset="-120"/>
              </a:rPr>
              <a:t>ASLR</a:t>
            </a:r>
            <a:r>
              <a:rPr lang="en-US" sz="1500" dirty="0">
                <a:solidFill>
                  <a:srgbClr val="E6E9EF"/>
                </a:solidFill>
                <a:latin typeface="IBM Plex Sans" pitchFamily="34" charset="0"/>
                <a:ea typeface="IBM Plex Sans" pitchFamily="34" charset="-122"/>
                <a:cs typeface="IBM Plex Sans" pitchFamily="34" charset="-120"/>
              </a:rPr>
              <a:t>  stack addresses are randomized</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C2230"/>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E3A008"/>
                </a:solidFill>
                <a:latin typeface="JetBrains Mono" pitchFamily="49" charset="0"/>
                <a:ea typeface="JetBrains Mono" pitchFamily="49" charset="-122"/>
                <a:cs typeface="JetBrains Mono" pitchFamily="49" charset="-120"/>
              </a:rPr>
              <a:t>$ checksec ./vuln</a:t>
            </a:r>
            <a:endParaRPr lang="en-US" sz="1300" dirty="0"/>
          </a:p>
        </p:txBody>
      </p:sp>
      <p:sp>
        <p:nvSpPr>
          <p:cNvPr id="3" name="Text 1"/>
          <p:cNvSpPr/>
          <p:nvPr>
            <p:ph type="title"/>
          </p:nvPr>
        </p:nvSpPr>
        <p:spPr>
          <a:xfrm>
            <a:off x="812800" y="112008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E6E9EF"/>
                </a:solidFill>
                <a:latin typeface="IBM Plex Sans" pitchFamily="34" charset="0"/>
                <a:ea typeface="IBM Plex Sans" pitchFamily="34" charset="-122"/>
                <a:cs typeface="IBM Plex Sans" pitchFamily="34" charset="-120"/>
              </a:rPr>
              <a:t>Not the full picture</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2541"/>
          <a:ext cx="10553700" cy="3352800"/>
        </p:xfrm>
        <a:graphic>
          <a:graphicData uri="http://schemas.openxmlformats.org/drawingml/2006/table">
            <a:tbl>
              <a:tblPr/>
              <a:tblGrid>
                <a:gridCol w="2321814"/>
                <a:gridCol w="1899666"/>
                <a:gridCol w="6332220"/>
              </a:tblGrid>
              <a:tr h="558800">
                <a:tc>
                  <a:txBody>
                    <a:bodyPr/>
                    <a:lstStyle/>
                    <a:p>
                      <a:pPr indent="0" marL="0">
                        <a:lnSpc>
                          <a:spcPts val="2100"/>
                        </a:lnSpc>
                        <a:buNone/>
                      </a:pPr>
                      <a:r>
                        <a:rPr lang="en-US" sz="1500" b="1" dirty="0">
                          <a:solidFill>
                            <a:srgbClr val="9AA4B2"/>
                          </a:solidFill>
                          <a:latin typeface="IBM Plex Sans" pitchFamily="34" charset="0"/>
                          <a:ea typeface="IBM Plex Sans" pitchFamily="34" charset="-122"/>
                          <a:cs typeface="IBM Plex Sans" pitchFamily="34" charset="-120"/>
                        </a:rPr>
                        <a:t>Protection</a:t>
                      </a:r>
                      <a:endParaRPr lang="en-US" sz="1500" dirty="0">
                        <a:latin typeface="IBM Plex Sans" charset="0"/>
                        <a:ea typeface="IBM Plex Sans" charset="0"/>
                        <a:cs typeface="IBM Plex Sans" charset="0"/>
                      </a:endParaRPr>
                    </a:p>
                  </a:txBody>
                  <a:tcPr marL="177800" marR="177800" marT="139700" marB="139700" anchor="t">
                    <a:lnL w="12700" cap="flat" cmpd="sng" algn="ctr">
                      <a:solidFill>
                        <a:srgbClr val="4D515B"/>
                      </a:solidFill>
                      <a:prstDash val="solid"/>
                      <a:round/>
                      <a:headEnd type="none" w="med" len="med"/>
                      <a:tailEnd type="none" w="med" len="med"/>
                    </a:lnL>
                    <a:lnR w="12700" cap="flat" cmpd="sng" algn="ctr">
                      <a:solidFill>
                        <a:srgbClr val="474A4E"/>
                      </a:solidFill>
                      <a:prstDash val="solid"/>
                      <a:round/>
                      <a:headEnd type="none" w="med" len="med"/>
                      <a:tailEnd type="none" w="med" len="med"/>
                    </a:lnR>
                    <a:lnT w="12700" cap="flat" cmpd="sng" algn="ctr">
                      <a:solidFill>
                        <a:srgbClr val="4D515B"/>
                      </a:solidFill>
                      <a:prstDash val="solid"/>
                      <a:round/>
                      <a:headEnd type="none" w="med" len="med"/>
                      <a:tailEnd type="none" w="med" len="med"/>
                    </a:lnT>
                    <a:lnB w="12700" cap="flat" cmpd="sng" algn="ctr">
                      <a:solidFill>
                        <a:srgbClr val="474A4E"/>
                      </a:solidFill>
                      <a:prstDash val="solid"/>
                      <a:round/>
                      <a:headEnd type="none" w="med" len="med"/>
                      <a:tailEnd type="none" w="med" len="med"/>
                    </a:lnB>
                    <a:solidFill>
                      <a:srgbClr val="14181F"/>
                    </a:solidFill>
                  </a:tcPr>
                </a:tc>
                <a:tc>
                  <a:txBody>
                    <a:bodyPr/>
                    <a:lstStyle/>
                    <a:p>
                      <a:pPr indent="0" marL="0">
                        <a:lnSpc>
                          <a:spcPts val="2100"/>
                        </a:lnSpc>
                        <a:buNone/>
                      </a:pPr>
                      <a:r>
                        <a:rPr lang="en-US" sz="1500" b="1" dirty="0">
                          <a:solidFill>
                            <a:srgbClr val="9AA4B2"/>
                          </a:solidFill>
                          <a:latin typeface="IBM Plex Sans" pitchFamily="34" charset="0"/>
                          <a:ea typeface="IBM Plex Sans" pitchFamily="34" charset="-122"/>
                          <a:cs typeface="IBM Plex Sans" pitchFamily="34" charset="-120"/>
                        </a:rPr>
                        <a:t>State</a:t>
                      </a:r>
                      <a:endParaRPr lang="en-US" sz="1500" dirty="0">
                        <a:latin typeface="IBM Plex Sans" charset="0"/>
                        <a:ea typeface="IBM Plex Sans" charset="0"/>
                        <a:cs typeface="IBM Plex Sans" charset="0"/>
                      </a:endParaRPr>
                    </a:p>
                  </a:txBody>
                  <a:tcPr marL="177800" marR="177800" marT="139700" marB="139700" anchor="t">
                    <a:lnL w="12700" cap="flat" cmpd="sng" algn="ctr">
                      <a:solidFill>
                        <a:srgbClr val="474A4E"/>
                      </a:solidFill>
                      <a:prstDash val="solid"/>
                      <a:round/>
                      <a:headEnd type="none" w="med" len="med"/>
                      <a:tailEnd type="none" w="med" len="med"/>
                    </a:lnL>
                    <a:lnR w="12700" cap="flat" cmpd="sng" algn="ctr">
                      <a:solidFill>
                        <a:srgbClr val="474A4E"/>
                      </a:solidFill>
                      <a:prstDash val="solid"/>
                      <a:round/>
                      <a:headEnd type="none" w="med" len="med"/>
                      <a:tailEnd type="none" w="med" len="med"/>
                    </a:lnR>
                    <a:lnT w="12700" cap="flat" cmpd="sng" algn="ctr">
                      <a:solidFill>
                        <a:srgbClr val="4D515B"/>
                      </a:solidFill>
                      <a:prstDash val="solid"/>
                      <a:round/>
                      <a:headEnd type="none" w="med" len="med"/>
                      <a:tailEnd type="none" w="med" len="med"/>
                    </a:lnT>
                    <a:lnB w="12700" cap="flat" cmpd="sng" algn="ctr">
                      <a:solidFill>
                        <a:srgbClr val="474A4E"/>
                      </a:solidFill>
                      <a:prstDash val="solid"/>
                      <a:round/>
                      <a:headEnd type="none" w="med" len="med"/>
                      <a:tailEnd type="none" w="med" len="med"/>
                    </a:lnB>
                    <a:solidFill>
                      <a:srgbClr val="14181F"/>
                    </a:solidFill>
                  </a:tcPr>
                </a:tc>
                <a:tc>
                  <a:txBody>
                    <a:bodyPr/>
                    <a:lstStyle/>
                    <a:p>
                      <a:pPr indent="0" marL="0">
                        <a:lnSpc>
                          <a:spcPts val="2100"/>
                        </a:lnSpc>
                        <a:buNone/>
                      </a:pPr>
                      <a:r>
                        <a:rPr lang="en-US" sz="1500" b="1" dirty="0">
                          <a:solidFill>
                            <a:srgbClr val="9AA4B2"/>
                          </a:solidFill>
                          <a:latin typeface="IBM Plex Sans" pitchFamily="34" charset="0"/>
                          <a:ea typeface="IBM Plex Sans" pitchFamily="34" charset="-122"/>
                          <a:cs typeface="IBM Plex Sans" pitchFamily="34" charset="-120"/>
                        </a:rPr>
                        <a:t>What it stops</a:t>
                      </a:r>
                      <a:endParaRPr lang="en-US" sz="1500" dirty="0">
                        <a:latin typeface="IBM Plex Sans" charset="0"/>
                        <a:ea typeface="IBM Plex Sans" charset="0"/>
                        <a:cs typeface="IBM Plex Sans" charset="0"/>
                      </a:endParaRPr>
                    </a:p>
                  </a:txBody>
                  <a:tcPr marL="177800" marR="177800" marT="139700" marB="139700" anchor="t">
                    <a:lnL w="12700" cap="flat" cmpd="sng" algn="ctr">
                      <a:solidFill>
                        <a:srgbClr val="474A4E"/>
                      </a:solidFill>
                      <a:prstDash val="solid"/>
                      <a:round/>
                      <a:headEnd type="none" w="med" len="med"/>
                      <a:tailEnd type="none" w="med" len="med"/>
                    </a:lnL>
                    <a:lnR w="12700" cap="flat" cmpd="sng" algn="ctr">
                      <a:solidFill>
                        <a:srgbClr val="474A4E"/>
                      </a:solidFill>
                      <a:prstDash val="solid"/>
                      <a:round/>
                      <a:headEnd type="none" w="med" len="med"/>
                      <a:tailEnd type="none" w="med" len="med"/>
                    </a:lnR>
                    <a:lnT w="12700" cap="flat" cmpd="sng" algn="ctr">
                      <a:solidFill>
                        <a:srgbClr val="4D515B"/>
                      </a:solidFill>
                      <a:prstDash val="solid"/>
                      <a:round/>
                      <a:headEnd type="none" w="med" len="med"/>
                      <a:tailEnd type="none" w="med" len="med"/>
                    </a:lnT>
                    <a:lnB w="12700" cap="flat" cmpd="sng" algn="ctr">
                      <a:solidFill>
                        <a:srgbClr val="474A4E"/>
                      </a:solidFill>
                      <a:prstDash val="solid"/>
                      <a:round/>
                      <a:headEnd type="none" w="med" len="med"/>
                      <a:tailEnd type="none" w="med" len="med"/>
                    </a:lnB>
                    <a:solidFill>
                      <a:srgbClr val="14181F"/>
                    </a:solidFill>
                  </a:tcPr>
                </a:tc>
              </a:tr>
              <a:tr h="558800">
                <a:tc>
                  <a:txBody>
                    <a:bodyPr/>
                    <a:lstStyle/>
                    <a:p>
                      <a:pPr indent="0" marL="0">
                        <a:lnSpc>
                          <a:spcPts val="2100"/>
                        </a:lnSpc>
                        <a:buNone/>
                      </a:pPr>
                      <a:r>
                        <a:rPr lang="en-US" sz="1500" dirty="0">
                          <a:solidFill>
                            <a:srgbClr val="E6E9EF"/>
                          </a:solidFill>
                          <a:latin typeface="IBM Plex Sans" pitchFamily="34" charset="0"/>
                          <a:ea typeface="IBM Plex Sans" pitchFamily="34" charset="-122"/>
                          <a:cs typeface="IBM Plex Sans" pitchFamily="34" charset="-120"/>
                        </a:rPr>
                        <a:t>NX</a:t>
                      </a:r>
                      <a:endParaRPr lang="en-US" sz="1500" dirty="0">
                        <a:latin typeface="IBM Plex Sans" charset="0"/>
                        <a:ea typeface="IBM Plex Sans" charset="0"/>
                        <a:cs typeface="IBM Plex Sans" charset="0"/>
                      </a:endParaRPr>
                    </a:p>
                  </a:txBody>
                  <a:tcPr marL="177800" marR="177800" marT="139700" marB="139700" anchor="t">
                    <a:lnL w="12700" cap="flat" cmpd="sng" algn="ctr">
                      <a:solidFill>
                        <a:srgbClr val="4D515B"/>
                      </a:solidFill>
                      <a:prstDash val="solid"/>
                      <a:round/>
                      <a:headEnd type="none" w="med" len="med"/>
                      <a:tailEnd type="none" w="med" len="med"/>
                    </a:lnL>
                    <a:lnR w="12700" cap="flat" cmpd="sng" algn="ctr">
                      <a:solidFill>
                        <a:srgbClr val="4D515B"/>
                      </a:solidFill>
                      <a:prstDash val="solid"/>
                      <a:round/>
                      <a:headEnd type="none" w="med" len="med"/>
                      <a:tailEnd type="none" w="med" len="med"/>
                    </a:lnR>
                    <a:lnT w="12700" cap="flat" cmpd="sng" algn="ctr">
                      <a:solidFill>
                        <a:srgbClr val="474A4E"/>
                      </a:solidFill>
                      <a:prstDash val="solid"/>
                      <a:round/>
                      <a:headEnd type="none" w="med" len="med"/>
                      <a:tailEnd type="none" w="med" len="med"/>
                    </a:lnT>
                    <a:lnB w="12700" cap="flat" cmpd="sng" algn="ctr">
                      <a:solidFill>
                        <a:srgbClr val="4D515B"/>
                      </a:solidFill>
                      <a:prstDash val="solid"/>
                      <a:round/>
                      <a:headEnd type="none" w="med" len="med"/>
                      <a:tailEnd type="none" w="med" len="med"/>
                    </a:lnB>
                  </a:tcPr>
                </a:tc>
                <a:tc>
                  <a:txBody>
                    <a:bodyPr/>
                    <a:lstStyle/>
                    <a:p>
                      <a:pPr indent="0" marL="0">
                        <a:lnSpc>
                          <a:spcPts val="2100"/>
                        </a:lnSpc>
                        <a:buNone/>
                      </a:pPr>
                      <a:r>
                        <a:rPr lang="en-US" sz="1500" dirty="0">
                          <a:solidFill>
                            <a:srgbClr val="4AC97E"/>
                          </a:solidFill>
                          <a:latin typeface="IBM Plex Sans" pitchFamily="34" charset="0"/>
                          <a:ea typeface="IBM Plex Sans" pitchFamily="34" charset="-122"/>
                          <a:cs typeface="IBM Plex Sans" pitchFamily="34" charset="-120"/>
                        </a:rPr>
                        <a:t>ON</a:t>
                      </a:r>
                      <a:endParaRPr lang="en-US" sz="1500" dirty="0">
                        <a:latin typeface="IBM Plex Sans" charset="0"/>
                        <a:ea typeface="IBM Plex Sans" charset="0"/>
                        <a:cs typeface="IBM Plex Sans" charset="0"/>
                      </a:endParaRPr>
                    </a:p>
                  </a:txBody>
                  <a:tcPr marL="177800" marR="177800" marT="139700" marB="139700" anchor="t">
                    <a:lnL w="12700" cap="flat" cmpd="sng" algn="ctr">
                      <a:solidFill>
                        <a:srgbClr val="4D515B"/>
                      </a:solidFill>
                      <a:prstDash val="solid"/>
                      <a:round/>
                      <a:headEnd type="none" w="med" len="med"/>
                      <a:tailEnd type="none" w="med" len="med"/>
                    </a:lnL>
                    <a:lnR w="12700" cap="flat" cmpd="sng" algn="ctr">
                      <a:solidFill>
                        <a:srgbClr val="4D515B"/>
                      </a:solidFill>
                      <a:prstDash val="solid"/>
                      <a:round/>
                      <a:headEnd type="none" w="med" len="med"/>
                      <a:tailEnd type="none" w="med" len="med"/>
                    </a:lnR>
                    <a:lnT w="12700" cap="flat" cmpd="sng" algn="ctr">
                      <a:solidFill>
                        <a:srgbClr val="474A4E"/>
                      </a:solidFill>
                      <a:prstDash val="solid"/>
                      <a:round/>
                      <a:headEnd type="none" w="med" len="med"/>
                      <a:tailEnd type="none" w="med" len="med"/>
                    </a:lnT>
                    <a:lnB w="12700" cap="flat" cmpd="sng" algn="ctr">
                      <a:solidFill>
                        <a:srgbClr val="4D515B"/>
                      </a:solidFill>
                      <a:prstDash val="solid"/>
                      <a:round/>
                      <a:headEnd type="none" w="med" len="med"/>
                      <a:tailEnd type="none" w="med" len="med"/>
                    </a:lnB>
                  </a:tcPr>
                </a:tc>
                <a:tc>
                  <a:txBody>
                    <a:bodyPr/>
                    <a:lstStyle/>
                    <a:p>
                      <a:pPr indent="0" marL="0">
                        <a:lnSpc>
                          <a:spcPts val="2100"/>
                        </a:lnSpc>
                        <a:buNone/>
                      </a:pPr>
                      <a:r>
                        <a:rPr lang="en-US" sz="1500" dirty="0">
                          <a:solidFill>
                            <a:srgbClr val="C3CBD6"/>
                          </a:solidFill>
                          <a:latin typeface="IBM Plex Sans" pitchFamily="34" charset="0"/>
                          <a:ea typeface="IBM Plex Sans" pitchFamily="34" charset="-122"/>
                          <a:cs typeface="IBM Plex Sans" pitchFamily="34" charset="-120"/>
                        </a:rPr>
                        <a:t>No shellcode on the stack → forces ROP</a:t>
                      </a:r>
                      <a:endParaRPr lang="en-US" sz="1500" dirty="0">
                        <a:latin typeface="IBM Plex Sans" charset="0"/>
                        <a:ea typeface="IBM Plex Sans" charset="0"/>
                        <a:cs typeface="IBM Plex Sans" charset="0"/>
                      </a:endParaRPr>
                    </a:p>
                  </a:txBody>
                  <a:tcPr marL="177800" marR="177800" marT="139700" marB="139700" anchor="t">
                    <a:lnL w="12700" cap="flat" cmpd="sng" algn="ctr">
                      <a:solidFill>
                        <a:srgbClr val="4D515B"/>
                      </a:solidFill>
                      <a:prstDash val="solid"/>
                      <a:round/>
                      <a:headEnd type="none" w="med" len="med"/>
                      <a:tailEnd type="none" w="med" len="med"/>
                    </a:lnL>
                    <a:lnR w="12700" cap="flat" cmpd="sng" algn="ctr">
                      <a:solidFill>
                        <a:srgbClr val="4D515B"/>
                      </a:solidFill>
                      <a:prstDash val="solid"/>
                      <a:round/>
                      <a:headEnd type="none" w="med" len="med"/>
                      <a:tailEnd type="none" w="med" len="med"/>
                    </a:lnR>
                    <a:lnT w="12700" cap="flat" cmpd="sng" algn="ctr">
                      <a:solidFill>
                        <a:srgbClr val="474A4E"/>
                      </a:solidFill>
                      <a:prstDash val="solid"/>
                      <a:round/>
                      <a:headEnd type="none" w="med" len="med"/>
                      <a:tailEnd type="none" w="med" len="med"/>
                    </a:lnT>
                    <a:lnB w="12700" cap="flat" cmpd="sng" algn="ctr">
                      <a:solidFill>
                        <a:srgbClr val="4D515B"/>
                      </a:solidFill>
                      <a:prstDash val="solid"/>
                      <a:round/>
                      <a:headEnd type="none" w="med" len="med"/>
                      <a:tailEnd type="none" w="med" len="med"/>
                    </a:lnB>
                  </a:tcPr>
                </a:tc>
              </a:tr>
              <a:tr h="558800">
                <a:tc>
                  <a:txBody>
                    <a:bodyPr/>
                    <a:lstStyle/>
                    <a:p>
                      <a:pPr indent="0" marL="0">
                        <a:lnSpc>
                          <a:spcPts val="2100"/>
                        </a:lnSpc>
                        <a:buNone/>
                      </a:pPr>
                      <a:r>
                        <a:rPr lang="en-US" sz="1500" dirty="0">
                          <a:solidFill>
                            <a:srgbClr val="E6E9EF"/>
                          </a:solidFill>
                          <a:latin typeface="IBM Plex Sans" pitchFamily="34" charset="0"/>
                          <a:ea typeface="IBM Plex Sans" pitchFamily="34" charset="-122"/>
                          <a:cs typeface="IBM Plex Sans" pitchFamily="34" charset="-120"/>
                        </a:rPr>
                        <a:t>Canary</a:t>
                      </a:r>
                      <a:endParaRPr lang="en-US" sz="1500" dirty="0">
                        <a:latin typeface="IBM Plex Sans" charset="0"/>
                        <a:ea typeface="IBM Plex Sans" charset="0"/>
                        <a:cs typeface="IBM Plex Sans" charset="0"/>
                      </a:endParaRPr>
                    </a:p>
                  </a:txBody>
                  <a:tcPr marL="177800" marR="177800" marT="139700" marB="139700" anchor="t">
                    <a:lnL w="12700" cap="flat" cmpd="sng" algn="ctr">
                      <a:solidFill>
                        <a:srgbClr val="4D515B"/>
                      </a:solidFill>
                      <a:prstDash val="solid"/>
                      <a:round/>
                      <a:headEnd type="none" w="med" len="med"/>
                      <a:tailEnd type="none" w="med" len="med"/>
                    </a:lnL>
                    <a:lnR w="12700" cap="flat" cmpd="sng" algn="ctr">
                      <a:solidFill>
                        <a:srgbClr val="484C52"/>
                      </a:solidFill>
                      <a:prstDash val="solid"/>
                      <a:round/>
                      <a:headEnd type="none" w="med" len="med"/>
                      <a:tailEnd type="none" w="med" len="med"/>
                    </a:lnR>
                    <a:lnT w="12700" cap="flat" cmpd="sng" algn="ctr">
                      <a:solidFill>
                        <a:srgbClr val="4D515B"/>
                      </a:solidFill>
                      <a:prstDash val="solid"/>
                      <a:round/>
                      <a:headEnd type="none" w="med" len="med"/>
                      <a:tailEnd type="none" w="med" len="med"/>
                    </a:lnT>
                    <a:lnB w="12700" cap="flat" cmpd="sng" algn="ctr">
                      <a:solidFill>
                        <a:srgbClr val="484C52"/>
                      </a:solidFill>
                      <a:prstDash val="solid"/>
                      <a:round/>
                      <a:headEnd type="none" w="med" len="med"/>
                      <a:tailEnd type="none" w="med" len="med"/>
                    </a:lnB>
                    <a:solidFill>
                      <a:srgbClr val="161B24"/>
                    </a:solidFill>
                  </a:tcPr>
                </a:tc>
                <a:tc>
                  <a:txBody>
                    <a:bodyPr/>
                    <a:lstStyle/>
                    <a:p>
                      <a:pPr indent="0" marL="0">
                        <a:lnSpc>
                          <a:spcPts val="2100"/>
                        </a:lnSpc>
                        <a:buNone/>
                      </a:pPr>
                      <a:r>
                        <a:rPr lang="en-US" sz="1500" dirty="0">
                          <a:solidFill>
                            <a:srgbClr val="4AC97E"/>
                          </a:solidFill>
                          <a:latin typeface="IBM Plex Sans" pitchFamily="34" charset="0"/>
                          <a:ea typeface="IBM Plex Sans" pitchFamily="34" charset="-122"/>
                          <a:cs typeface="IBM Plex Sans" pitchFamily="34" charset="-120"/>
                        </a:rPr>
                        <a:t>ON</a:t>
                      </a:r>
                      <a:endParaRPr lang="en-US" sz="1500" dirty="0">
                        <a:latin typeface="IBM Plex Sans" charset="0"/>
                        <a:ea typeface="IBM Plex Sans" charset="0"/>
                        <a:cs typeface="IBM Plex Sans" charset="0"/>
                      </a:endParaRPr>
                    </a:p>
                  </a:txBody>
                  <a:tcPr marL="177800" marR="177800" marT="139700" marB="139700" anchor="t">
                    <a:lnL w="12700" cap="flat" cmpd="sng" algn="ctr">
                      <a:solidFill>
                        <a:srgbClr val="484C52"/>
                      </a:solidFill>
                      <a:prstDash val="solid"/>
                      <a:round/>
                      <a:headEnd type="none" w="med" len="med"/>
                      <a:tailEnd type="none" w="med" len="med"/>
                    </a:lnL>
                    <a:lnR w="12700" cap="flat" cmpd="sng" algn="ctr">
                      <a:solidFill>
                        <a:srgbClr val="484C52"/>
                      </a:solidFill>
                      <a:prstDash val="solid"/>
                      <a:round/>
                      <a:headEnd type="none" w="med" len="med"/>
                      <a:tailEnd type="none" w="med" len="med"/>
                    </a:lnR>
                    <a:lnT w="12700" cap="flat" cmpd="sng" algn="ctr">
                      <a:solidFill>
                        <a:srgbClr val="4D515B"/>
                      </a:solidFill>
                      <a:prstDash val="solid"/>
                      <a:round/>
                      <a:headEnd type="none" w="med" len="med"/>
                      <a:tailEnd type="none" w="med" len="med"/>
                    </a:lnT>
                    <a:lnB w="12700" cap="flat" cmpd="sng" algn="ctr">
                      <a:solidFill>
                        <a:srgbClr val="484C52"/>
                      </a:solidFill>
                      <a:prstDash val="solid"/>
                      <a:round/>
                      <a:headEnd type="none" w="med" len="med"/>
                      <a:tailEnd type="none" w="med" len="med"/>
                    </a:lnB>
                    <a:solidFill>
                      <a:srgbClr val="161B24"/>
                    </a:solidFill>
                  </a:tcPr>
                </a:tc>
                <a:tc>
                  <a:txBody>
                    <a:bodyPr/>
                    <a:lstStyle/>
                    <a:p>
                      <a:pPr indent="0" marL="0">
                        <a:lnSpc>
                          <a:spcPts val="2100"/>
                        </a:lnSpc>
                        <a:buNone/>
                      </a:pPr>
                      <a:r>
                        <a:rPr lang="en-US" sz="1500" dirty="0">
                          <a:solidFill>
                            <a:srgbClr val="C3CBD6"/>
                          </a:solidFill>
                          <a:latin typeface="IBM Plex Sans" pitchFamily="34" charset="0"/>
                          <a:ea typeface="IBM Plex Sans" pitchFamily="34" charset="-122"/>
                          <a:cs typeface="IBM Plex Sans" pitchFamily="34" charset="-120"/>
                        </a:rPr>
                        <a:t>Can't blindly smash the saved return address</a:t>
                      </a:r>
                      <a:endParaRPr lang="en-US" sz="1500" dirty="0">
                        <a:latin typeface="IBM Plex Sans" charset="0"/>
                        <a:ea typeface="IBM Plex Sans" charset="0"/>
                        <a:cs typeface="IBM Plex Sans" charset="0"/>
                      </a:endParaRPr>
                    </a:p>
                  </a:txBody>
                  <a:tcPr marL="177800" marR="177800" marT="139700" marB="139700" anchor="t">
                    <a:lnL w="12700" cap="flat" cmpd="sng" algn="ctr">
                      <a:solidFill>
                        <a:srgbClr val="484C52"/>
                      </a:solidFill>
                      <a:prstDash val="solid"/>
                      <a:round/>
                      <a:headEnd type="none" w="med" len="med"/>
                      <a:tailEnd type="none" w="med" len="med"/>
                    </a:lnL>
                    <a:lnR w="12700" cap="flat" cmpd="sng" algn="ctr">
                      <a:solidFill>
                        <a:srgbClr val="484C52"/>
                      </a:solidFill>
                      <a:prstDash val="solid"/>
                      <a:round/>
                      <a:headEnd type="none" w="med" len="med"/>
                      <a:tailEnd type="none" w="med" len="med"/>
                    </a:lnR>
                    <a:lnT w="12700" cap="flat" cmpd="sng" algn="ctr">
                      <a:solidFill>
                        <a:srgbClr val="4D515B"/>
                      </a:solidFill>
                      <a:prstDash val="solid"/>
                      <a:round/>
                      <a:headEnd type="none" w="med" len="med"/>
                      <a:tailEnd type="none" w="med" len="med"/>
                    </a:lnT>
                    <a:lnB w="12700" cap="flat" cmpd="sng" algn="ctr">
                      <a:solidFill>
                        <a:srgbClr val="484C52"/>
                      </a:solidFill>
                      <a:prstDash val="solid"/>
                      <a:round/>
                      <a:headEnd type="none" w="med" len="med"/>
                      <a:tailEnd type="none" w="med" len="med"/>
                    </a:lnB>
                    <a:solidFill>
                      <a:srgbClr val="161B24"/>
                    </a:solidFill>
                  </a:tcPr>
                </a:tc>
              </a:tr>
              <a:tr h="558800">
                <a:tc>
                  <a:txBody>
                    <a:bodyPr/>
                    <a:lstStyle/>
                    <a:p>
                      <a:pPr indent="0" marL="0">
                        <a:lnSpc>
                          <a:spcPts val="2100"/>
                        </a:lnSpc>
                        <a:buNone/>
                      </a:pPr>
                      <a:r>
                        <a:rPr lang="en-US" sz="1500" dirty="0">
                          <a:solidFill>
                            <a:srgbClr val="E6E9EF"/>
                          </a:solidFill>
                          <a:latin typeface="IBM Plex Sans" pitchFamily="34" charset="0"/>
                          <a:ea typeface="IBM Plex Sans" pitchFamily="34" charset="-122"/>
                          <a:cs typeface="IBM Plex Sans" pitchFamily="34" charset="-120"/>
                        </a:rPr>
                        <a:t>ASLR</a:t>
                      </a:r>
                      <a:endParaRPr lang="en-US" sz="1500" dirty="0">
                        <a:latin typeface="IBM Plex Sans" charset="0"/>
                        <a:ea typeface="IBM Plex Sans" charset="0"/>
                        <a:cs typeface="IBM Plex Sans" charset="0"/>
                      </a:endParaRPr>
                    </a:p>
                  </a:txBody>
                  <a:tcPr marL="177800" marR="177800" marT="139700" marB="139700" anchor="t">
                    <a:lnL w="12700" cap="flat" cmpd="sng" algn="ctr">
                      <a:solidFill>
                        <a:srgbClr val="4D515B"/>
                      </a:solidFill>
                      <a:prstDash val="solid"/>
                      <a:round/>
                      <a:headEnd type="none" w="med" len="med"/>
                      <a:tailEnd type="none" w="med" len="med"/>
                    </a:lnL>
                    <a:lnR w="12700" cap="flat" cmpd="sng" algn="ctr">
                      <a:solidFill>
                        <a:srgbClr val="4D515B"/>
                      </a:solidFill>
                      <a:prstDash val="solid"/>
                      <a:round/>
                      <a:headEnd type="none" w="med" len="med"/>
                      <a:tailEnd type="none" w="med" len="med"/>
                    </a:lnR>
                    <a:lnT w="12700" cap="flat" cmpd="sng" algn="ctr">
                      <a:solidFill>
                        <a:srgbClr val="484C52"/>
                      </a:solidFill>
                      <a:prstDash val="solid"/>
                      <a:round/>
                      <a:headEnd type="none" w="med" len="med"/>
                      <a:tailEnd type="none" w="med" len="med"/>
                    </a:lnT>
                    <a:lnB w="12700" cap="flat" cmpd="sng" algn="ctr">
                      <a:solidFill>
                        <a:srgbClr val="4D515B"/>
                      </a:solidFill>
                      <a:prstDash val="solid"/>
                      <a:round/>
                      <a:headEnd type="none" w="med" len="med"/>
                      <a:tailEnd type="none" w="med" len="med"/>
                    </a:lnB>
                  </a:tcPr>
                </a:tc>
                <a:tc>
                  <a:txBody>
                    <a:bodyPr/>
                    <a:lstStyle/>
                    <a:p>
                      <a:pPr indent="0" marL="0">
                        <a:lnSpc>
                          <a:spcPts val="2100"/>
                        </a:lnSpc>
                        <a:buNone/>
                      </a:pPr>
                      <a:r>
                        <a:rPr lang="en-US" sz="1500" dirty="0">
                          <a:solidFill>
                            <a:srgbClr val="4AC97E"/>
                          </a:solidFill>
                          <a:latin typeface="IBM Plex Sans" pitchFamily="34" charset="0"/>
                          <a:ea typeface="IBM Plex Sans" pitchFamily="34" charset="-122"/>
                          <a:cs typeface="IBM Plex Sans" pitchFamily="34" charset="-120"/>
                        </a:rPr>
                        <a:t>ON</a:t>
                      </a:r>
                      <a:endParaRPr lang="en-US" sz="1500" dirty="0">
                        <a:latin typeface="IBM Plex Sans" charset="0"/>
                        <a:ea typeface="IBM Plex Sans" charset="0"/>
                        <a:cs typeface="IBM Plex Sans" charset="0"/>
                      </a:endParaRPr>
                    </a:p>
                  </a:txBody>
                  <a:tcPr marL="177800" marR="177800" marT="139700" marB="139700" anchor="t">
                    <a:lnL w="12700" cap="flat" cmpd="sng" algn="ctr">
                      <a:solidFill>
                        <a:srgbClr val="4D515B"/>
                      </a:solidFill>
                      <a:prstDash val="solid"/>
                      <a:round/>
                      <a:headEnd type="none" w="med" len="med"/>
                      <a:tailEnd type="none" w="med" len="med"/>
                    </a:lnL>
                    <a:lnR w="12700" cap="flat" cmpd="sng" algn="ctr">
                      <a:solidFill>
                        <a:srgbClr val="4D515B"/>
                      </a:solidFill>
                      <a:prstDash val="solid"/>
                      <a:round/>
                      <a:headEnd type="none" w="med" len="med"/>
                      <a:tailEnd type="none" w="med" len="med"/>
                    </a:lnR>
                    <a:lnT w="12700" cap="flat" cmpd="sng" algn="ctr">
                      <a:solidFill>
                        <a:srgbClr val="484C52"/>
                      </a:solidFill>
                      <a:prstDash val="solid"/>
                      <a:round/>
                      <a:headEnd type="none" w="med" len="med"/>
                      <a:tailEnd type="none" w="med" len="med"/>
                    </a:lnT>
                    <a:lnB w="12700" cap="flat" cmpd="sng" algn="ctr">
                      <a:solidFill>
                        <a:srgbClr val="4D515B"/>
                      </a:solidFill>
                      <a:prstDash val="solid"/>
                      <a:round/>
                      <a:headEnd type="none" w="med" len="med"/>
                      <a:tailEnd type="none" w="med" len="med"/>
                    </a:lnB>
                  </a:tcPr>
                </a:tc>
                <a:tc>
                  <a:txBody>
                    <a:bodyPr/>
                    <a:lstStyle/>
                    <a:p>
                      <a:pPr indent="0" marL="0">
                        <a:lnSpc>
                          <a:spcPts val="2100"/>
                        </a:lnSpc>
                        <a:buNone/>
                      </a:pPr>
                      <a:r>
                        <a:rPr lang="en-US" sz="1500" dirty="0">
                          <a:solidFill>
                            <a:srgbClr val="C3CBD6"/>
                          </a:solidFill>
                          <a:latin typeface="IBM Plex Sans" pitchFamily="34" charset="0"/>
                          <a:ea typeface="IBM Plex Sans" pitchFamily="34" charset="-122"/>
                          <a:cs typeface="IBM Plex Sans" pitchFamily="34" charset="-120"/>
                        </a:rPr>
                        <a:t>libc and the heap move every run</a:t>
                      </a:r>
                      <a:endParaRPr lang="en-US" sz="1500" dirty="0">
                        <a:latin typeface="IBM Plex Sans" charset="0"/>
                        <a:ea typeface="IBM Plex Sans" charset="0"/>
                        <a:cs typeface="IBM Plex Sans" charset="0"/>
                      </a:endParaRPr>
                    </a:p>
                  </a:txBody>
                  <a:tcPr marL="177800" marR="177800" marT="139700" marB="139700" anchor="t">
                    <a:lnL w="12700" cap="flat" cmpd="sng" algn="ctr">
                      <a:solidFill>
                        <a:srgbClr val="4D515B"/>
                      </a:solidFill>
                      <a:prstDash val="solid"/>
                      <a:round/>
                      <a:headEnd type="none" w="med" len="med"/>
                      <a:tailEnd type="none" w="med" len="med"/>
                    </a:lnL>
                    <a:lnR w="12700" cap="flat" cmpd="sng" algn="ctr">
                      <a:solidFill>
                        <a:srgbClr val="4D515B"/>
                      </a:solidFill>
                      <a:prstDash val="solid"/>
                      <a:round/>
                      <a:headEnd type="none" w="med" len="med"/>
                      <a:tailEnd type="none" w="med" len="med"/>
                    </a:lnR>
                    <a:lnT w="12700" cap="flat" cmpd="sng" algn="ctr">
                      <a:solidFill>
                        <a:srgbClr val="484C52"/>
                      </a:solidFill>
                      <a:prstDash val="solid"/>
                      <a:round/>
                      <a:headEnd type="none" w="med" len="med"/>
                      <a:tailEnd type="none" w="med" len="med"/>
                    </a:lnT>
                    <a:lnB w="12700" cap="flat" cmpd="sng" algn="ctr">
                      <a:solidFill>
                        <a:srgbClr val="4D515B"/>
                      </a:solidFill>
                      <a:prstDash val="solid"/>
                      <a:round/>
                      <a:headEnd type="none" w="med" len="med"/>
                      <a:tailEnd type="none" w="med" len="med"/>
                    </a:lnB>
                  </a:tcPr>
                </a:tc>
              </a:tr>
              <a:tr h="558800">
                <a:tc>
                  <a:txBody>
                    <a:bodyPr/>
                    <a:lstStyle/>
                    <a:p>
                      <a:pPr indent="0" marL="0">
                        <a:lnSpc>
                          <a:spcPts val="2100"/>
                        </a:lnSpc>
                        <a:buNone/>
                      </a:pPr>
                      <a:r>
                        <a:rPr lang="en-US" sz="1500" dirty="0">
                          <a:solidFill>
                            <a:srgbClr val="E6E9EF"/>
                          </a:solidFill>
                          <a:latin typeface="IBM Plex Sans" pitchFamily="34" charset="0"/>
                          <a:ea typeface="IBM Plex Sans" pitchFamily="34" charset="-122"/>
                          <a:cs typeface="IBM Plex Sans" pitchFamily="34" charset="-120"/>
                        </a:rPr>
                        <a:t>PIE</a:t>
                      </a:r>
                      <a:endParaRPr lang="en-US" sz="1500" dirty="0">
                        <a:latin typeface="IBM Plex Sans" charset="0"/>
                        <a:ea typeface="IBM Plex Sans" charset="0"/>
                        <a:cs typeface="IBM Plex Sans" charset="0"/>
                      </a:endParaRPr>
                    </a:p>
                  </a:txBody>
                  <a:tcPr marL="177800" marR="177800" marT="139700" marB="139700" anchor="t">
                    <a:lnL w="12700" cap="flat" cmpd="sng" algn="ctr">
                      <a:solidFill>
                        <a:srgbClr val="4D515B"/>
                      </a:solidFill>
                      <a:prstDash val="solid"/>
                      <a:round/>
                      <a:headEnd type="none" w="med" len="med"/>
                      <a:tailEnd type="none" w="med" len="med"/>
                    </a:lnL>
                    <a:lnR w="12700" cap="flat" cmpd="sng" algn="ctr">
                      <a:solidFill>
                        <a:srgbClr val="484C52"/>
                      </a:solidFill>
                      <a:prstDash val="solid"/>
                      <a:round/>
                      <a:headEnd type="none" w="med" len="med"/>
                      <a:tailEnd type="none" w="med" len="med"/>
                    </a:lnR>
                    <a:lnT w="12700" cap="flat" cmpd="sng" algn="ctr">
                      <a:solidFill>
                        <a:srgbClr val="4D515B"/>
                      </a:solidFill>
                      <a:prstDash val="solid"/>
                      <a:round/>
                      <a:headEnd type="none" w="med" len="med"/>
                      <a:tailEnd type="none" w="med" len="med"/>
                    </a:lnT>
                    <a:lnB w="12700" cap="flat" cmpd="sng" algn="ctr">
                      <a:solidFill>
                        <a:srgbClr val="484C52"/>
                      </a:solidFill>
                      <a:prstDash val="solid"/>
                      <a:round/>
                      <a:headEnd type="none" w="med" len="med"/>
                      <a:tailEnd type="none" w="med" len="med"/>
                    </a:lnB>
                    <a:solidFill>
                      <a:srgbClr val="161B24"/>
                    </a:solidFill>
                  </a:tcPr>
                </a:tc>
                <a:tc>
                  <a:txBody>
                    <a:bodyPr/>
                    <a:lstStyle/>
                    <a:p>
                      <a:pPr indent="0" marL="0">
                        <a:lnSpc>
                          <a:spcPts val="2100"/>
                        </a:lnSpc>
                        <a:buNone/>
                      </a:pPr>
                      <a:r>
                        <a:rPr lang="en-US" sz="1500" dirty="0">
                          <a:solidFill>
                            <a:srgbClr val="F0B429"/>
                          </a:solidFill>
                          <a:latin typeface="IBM Plex Sans" pitchFamily="34" charset="0"/>
                          <a:ea typeface="IBM Plex Sans" pitchFamily="34" charset="-122"/>
                          <a:cs typeface="IBM Plex Sans" pitchFamily="34" charset="-120"/>
                        </a:rPr>
                        <a:t>OFF</a:t>
                      </a:r>
                      <a:endParaRPr lang="en-US" sz="1500" dirty="0">
                        <a:latin typeface="IBM Plex Sans" charset="0"/>
                        <a:ea typeface="IBM Plex Sans" charset="0"/>
                        <a:cs typeface="IBM Plex Sans" charset="0"/>
                      </a:endParaRPr>
                    </a:p>
                  </a:txBody>
                  <a:tcPr marL="177800" marR="177800" marT="139700" marB="139700" anchor="t">
                    <a:lnL w="12700" cap="flat" cmpd="sng" algn="ctr">
                      <a:solidFill>
                        <a:srgbClr val="484C52"/>
                      </a:solidFill>
                      <a:prstDash val="solid"/>
                      <a:round/>
                      <a:headEnd type="none" w="med" len="med"/>
                      <a:tailEnd type="none" w="med" len="med"/>
                    </a:lnL>
                    <a:lnR w="12700" cap="flat" cmpd="sng" algn="ctr">
                      <a:solidFill>
                        <a:srgbClr val="484C52"/>
                      </a:solidFill>
                      <a:prstDash val="solid"/>
                      <a:round/>
                      <a:headEnd type="none" w="med" len="med"/>
                      <a:tailEnd type="none" w="med" len="med"/>
                    </a:lnR>
                    <a:lnT w="12700" cap="flat" cmpd="sng" algn="ctr">
                      <a:solidFill>
                        <a:srgbClr val="4D515B"/>
                      </a:solidFill>
                      <a:prstDash val="solid"/>
                      <a:round/>
                      <a:headEnd type="none" w="med" len="med"/>
                      <a:tailEnd type="none" w="med" len="med"/>
                    </a:lnT>
                    <a:lnB w="12700" cap="flat" cmpd="sng" algn="ctr">
                      <a:solidFill>
                        <a:srgbClr val="484C52"/>
                      </a:solidFill>
                      <a:prstDash val="solid"/>
                      <a:round/>
                      <a:headEnd type="none" w="med" len="med"/>
                      <a:tailEnd type="none" w="med" len="med"/>
                    </a:lnB>
                    <a:solidFill>
                      <a:srgbClr val="161B24"/>
                    </a:solidFill>
                  </a:tcPr>
                </a:tc>
                <a:tc>
                  <a:txBody>
                    <a:bodyPr/>
                    <a:lstStyle/>
                    <a:p>
                      <a:pPr indent="0" marL="0">
                        <a:lnSpc>
                          <a:spcPts val="2100"/>
                        </a:lnSpc>
                        <a:buNone/>
                      </a:pPr>
                      <a:r>
                        <a:rPr lang="en-US" sz="1500" dirty="0">
                          <a:solidFill>
                            <a:srgbClr val="C3CBD6"/>
                          </a:solidFill>
                          <a:latin typeface="IBM Plex Sans" pitchFamily="34" charset="0"/>
                          <a:ea typeface="IBM Plex Sans" pitchFamily="34" charset="-122"/>
                          <a:cs typeface="IBM Plex Sans" pitchFamily="34" charset="-120"/>
                        </a:rPr>
                        <a:t>Binary's own addresses are fixed — our anchor</a:t>
                      </a:r>
                      <a:endParaRPr lang="en-US" sz="1500" dirty="0">
                        <a:latin typeface="IBM Plex Sans" charset="0"/>
                        <a:ea typeface="IBM Plex Sans" charset="0"/>
                        <a:cs typeface="IBM Plex Sans" charset="0"/>
                      </a:endParaRPr>
                    </a:p>
                  </a:txBody>
                  <a:tcPr marL="177800" marR="177800" marT="139700" marB="139700" anchor="t">
                    <a:lnL w="12700" cap="flat" cmpd="sng" algn="ctr">
                      <a:solidFill>
                        <a:srgbClr val="484C52"/>
                      </a:solidFill>
                      <a:prstDash val="solid"/>
                      <a:round/>
                      <a:headEnd type="none" w="med" len="med"/>
                      <a:tailEnd type="none" w="med" len="med"/>
                    </a:lnL>
                    <a:lnR w="12700" cap="flat" cmpd="sng" algn="ctr">
                      <a:solidFill>
                        <a:srgbClr val="484C52"/>
                      </a:solidFill>
                      <a:prstDash val="solid"/>
                      <a:round/>
                      <a:headEnd type="none" w="med" len="med"/>
                      <a:tailEnd type="none" w="med" len="med"/>
                    </a:lnR>
                    <a:lnT w="12700" cap="flat" cmpd="sng" algn="ctr">
                      <a:solidFill>
                        <a:srgbClr val="4D515B"/>
                      </a:solidFill>
                      <a:prstDash val="solid"/>
                      <a:round/>
                      <a:headEnd type="none" w="med" len="med"/>
                      <a:tailEnd type="none" w="med" len="med"/>
                    </a:lnT>
                    <a:lnB w="12700" cap="flat" cmpd="sng" algn="ctr">
                      <a:solidFill>
                        <a:srgbClr val="484C52"/>
                      </a:solidFill>
                      <a:prstDash val="solid"/>
                      <a:round/>
                      <a:headEnd type="none" w="med" len="med"/>
                      <a:tailEnd type="none" w="med" len="med"/>
                    </a:lnB>
                    <a:solidFill>
                      <a:srgbClr val="161B24"/>
                    </a:solidFill>
                  </a:tcPr>
                </a:tc>
              </a:tr>
              <a:tr h="558800">
                <a:tc>
                  <a:txBody>
                    <a:bodyPr/>
                    <a:lstStyle/>
                    <a:p>
                      <a:pPr indent="0" marL="0">
                        <a:lnSpc>
                          <a:spcPts val="2100"/>
                        </a:lnSpc>
                        <a:buNone/>
                      </a:pPr>
                      <a:r>
                        <a:rPr lang="en-US" sz="1500" dirty="0">
                          <a:solidFill>
                            <a:srgbClr val="E6E9EF"/>
                          </a:solidFill>
                          <a:latin typeface="IBM Plex Sans" pitchFamily="34" charset="0"/>
                          <a:ea typeface="IBM Plex Sans" pitchFamily="34" charset="-122"/>
                          <a:cs typeface="IBM Plex Sans" pitchFamily="34" charset="-120"/>
                        </a:rPr>
                        <a:t>RELRO</a:t>
                      </a:r>
                      <a:endParaRPr lang="en-US" sz="1500" dirty="0">
                        <a:latin typeface="IBM Plex Sans" charset="0"/>
                        <a:ea typeface="IBM Plex Sans" charset="0"/>
                        <a:cs typeface="IBM Plex Sans" charset="0"/>
                      </a:endParaRPr>
                    </a:p>
                  </a:txBody>
                  <a:tcPr marL="177800" marR="177800" marT="139700" marB="139700" anchor="t">
                    <a:lnL w="12700" cap="flat" cmpd="sng" algn="ctr">
                      <a:solidFill>
                        <a:srgbClr val="4D515B"/>
                      </a:solidFill>
                      <a:prstDash val="solid"/>
                      <a:round/>
                      <a:headEnd type="none" w="med" len="med"/>
                      <a:tailEnd type="none" w="med" len="med"/>
                    </a:lnL>
                    <a:lnR w="12700" cap="flat" cmpd="sng" algn="ctr">
                      <a:solidFill>
                        <a:srgbClr val="4D515B"/>
                      </a:solidFill>
                      <a:prstDash val="solid"/>
                      <a:round/>
                      <a:headEnd type="none" w="med" len="med"/>
                      <a:tailEnd type="none" w="med" len="med"/>
                    </a:lnR>
                    <a:lnT w="12700" cap="flat" cmpd="sng" algn="ctr">
                      <a:solidFill>
                        <a:srgbClr val="484C52"/>
                      </a:solidFill>
                      <a:prstDash val="solid"/>
                      <a:round/>
                      <a:headEnd type="none" w="med" len="med"/>
                      <a:tailEnd type="none" w="med" len="med"/>
                    </a:lnT>
                    <a:lnB w="12700" cap="flat" cmpd="sng" algn="ctr">
                      <a:solidFill>
                        <a:srgbClr val="4D515B"/>
                      </a:solidFill>
                      <a:prstDash val="solid"/>
                      <a:round/>
                      <a:headEnd type="none" w="med" len="med"/>
                      <a:tailEnd type="none" w="med" len="med"/>
                    </a:lnB>
                  </a:tcPr>
                </a:tc>
                <a:tc>
                  <a:txBody>
                    <a:bodyPr/>
                    <a:lstStyle/>
                    <a:p>
                      <a:pPr indent="0" marL="0">
                        <a:lnSpc>
                          <a:spcPts val="2100"/>
                        </a:lnSpc>
                        <a:buNone/>
                      </a:pPr>
                      <a:r>
                        <a:rPr lang="en-US" sz="1500" dirty="0">
                          <a:solidFill>
                            <a:srgbClr val="F0B429"/>
                          </a:solidFill>
                          <a:latin typeface="IBM Plex Sans" pitchFamily="34" charset="0"/>
                          <a:ea typeface="IBM Plex Sans" pitchFamily="34" charset="-122"/>
                          <a:cs typeface="IBM Plex Sans" pitchFamily="34" charset="-120"/>
                        </a:rPr>
                        <a:t>PARTIAL</a:t>
                      </a:r>
                      <a:endParaRPr lang="en-US" sz="1500" dirty="0">
                        <a:latin typeface="IBM Plex Sans" charset="0"/>
                        <a:ea typeface="IBM Plex Sans" charset="0"/>
                        <a:cs typeface="IBM Plex Sans" charset="0"/>
                      </a:endParaRPr>
                    </a:p>
                  </a:txBody>
                  <a:tcPr marL="177800" marR="177800" marT="139700" marB="139700" anchor="t">
                    <a:lnL w="12700" cap="flat" cmpd="sng" algn="ctr">
                      <a:solidFill>
                        <a:srgbClr val="4D515B"/>
                      </a:solidFill>
                      <a:prstDash val="solid"/>
                      <a:round/>
                      <a:headEnd type="none" w="med" len="med"/>
                      <a:tailEnd type="none" w="med" len="med"/>
                    </a:lnL>
                    <a:lnR w="12700" cap="flat" cmpd="sng" algn="ctr">
                      <a:solidFill>
                        <a:srgbClr val="4D515B"/>
                      </a:solidFill>
                      <a:prstDash val="solid"/>
                      <a:round/>
                      <a:headEnd type="none" w="med" len="med"/>
                      <a:tailEnd type="none" w="med" len="med"/>
                    </a:lnR>
                    <a:lnT w="12700" cap="flat" cmpd="sng" algn="ctr">
                      <a:solidFill>
                        <a:srgbClr val="484C52"/>
                      </a:solidFill>
                      <a:prstDash val="solid"/>
                      <a:round/>
                      <a:headEnd type="none" w="med" len="med"/>
                      <a:tailEnd type="none" w="med" len="med"/>
                    </a:lnT>
                    <a:lnB w="12700" cap="flat" cmpd="sng" algn="ctr">
                      <a:solidFill>
                        <a:srgbClr val="4D515B"/>
                      </a:solidFill>
                      <a:prstDash val="solid"/>
                      <a:round/>
                      <a:headEnd type="none" w="med" len="med"/>
                      <a:tailEnd type="none" w="med" len="med"/>
                    </a:lnB>
                  </a:tcPr>
                </a:tc>
                <a:tc>
                  <a:txBody>
                    <a:bodyPr/>
                    <a:lstStyle/>
                    <a:p>
                      <a:pPr indent="0" marL="0">
                        <a:lnSpc>
                          <a:spcPts val="2100"/>
                        </a:lnSpc>
                        <a:buNone/>
                      </a:pPr>
                      <a:r>
                        <a:rPr lang="en-US" sz="1500" dirty="0">
                          <a:solidFill>
                            <a:srgbClr val="C3CBD6"/>
                          </a:solidFill>
                          <a:latin typeface="IBM Plex Sans" pitchFamily="34" charset="0"/>
                          <a:ea typeface="IBM Plex Sans" pitchFamily="34" charset="-122"/>
                          <a:cs typeface="IBM Plex Sans" pitchFamily="34" charset="-120"/>
                        </a:rPr>
                        <a:t>GOT stays writable — hold that thought</a:t>
                      </a:r>
                      <a:endParaRPr lang="en-US" sz="1500" dirty="0">
                        <a:latin typeface="IBM Plex Sans" charset="0"/>
                        <a:ea typeface="IBM Plex Sans" charset="0"/>
                        <a:cs typeface="IBM Plex Sans" charset="0"/>
                      </a:endParaRPr>
                    </a:p>
                  </a:txBody>
                  <a:tcPr marL="177800" marR="177800" marT="139700" marB="139700" anchor="t">
                    <a:lnL w="12700" cap="flat" cmpd="sng" algn="ctr">
                      <a:solidFill>
                        <a:srgbClr val="4D515B"/>
                      </a:solidFill>
                      <a:prstDash val="solid"/>
                      <a:round/>
                      <a:headEnd type="none" w="med" len="med"/>
                      <a:tailEnd type="none" w="med" len="med"/>
                    </a:lnL>
                    <a:lnR w="12700" cap="flat" cmpd="sng" algn="ctr">
                      <a:solidFill>
                        <a:srgbClr val="4D515B"/>
                      </a:solidFill>
                      <a:prstDash val="solid"/>
                      <a:round/>
                      <a:headEnd type="none" w="med" len="med"/>
                      <a:tailEnd type="none" w="med" len="med"/>
                    </a:lnR>
                    <a:lnT w="12700" cap="flat" cmpd="sng" algn="ctr">
                      <a:solidFill>
                        <a:srgbClr val="484C52"/>
                      </a:solidFill>
                      <a:prstDash val="solid"/>
                      <a:round/>
                      <a:headEnd type="none" w="med" len="med"/>
                      <a:tailEnd type="none" w="med" len="med"/>
                    </a:lnT>
                    <a:lnB w="12700" cap="flat" cmpd="sng" algn="ctr">
                      <a:solidFill>
                        <a:srgbClr val="4D515B"/>
                      </a:solidFill>
                      <a:prstDash val="solid"/>
                      <a:round/>
                      <a:headEnd type="none" w="med" len="med"/>
                      <a:tailEnd type="none" w="med" len="med"/>
                    </a:lnB>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3A008"/>
        </a:solidFill>
      </p:bgPr>
    </p:bg>
    <p:spTree>
      <p:nvGrpSpPr>
        <p:cNvPr id="1" name=""/>
        <p:cNvGrpSpPr/>
        <p:nvPr/>
      </p:nvGrpSpPr>
      <p:grpSpPr>
        <a:xfrm>
          <a:off x="0" y="0"/>
          <a:ext cx="0" cy="0"/>
          <a:chOff x="0" y="0"/>
          <a:chExt cx="0" cy="0"/>
        </a:xfrm>
      </p:grpSpPr>
      <p:sp>
        <p:nvSpPr>
          <p:cNvPr id="2" name="Text 0"/>
          <p:cNvSpPr/>
          <p:nvPr>
            <p:ph type="title"/>
          </p:nvPr>
        </p:nvSpPr>
        <p:spPr>
          <a:xfrm>
            <a:off x="812800" y="2373610"/>
            <a:ext cx="10883392" cy="1758950"/>
          </a:xfrm>
          <a:prstGeom prst="rect">
            <a:avLst/>
          </a:prstGeom>
          <a:noFill/>
          <a:ln/>
        </p:spPr>
        <p:txBody>
          <a:bodyPr wrap="square" lIns="0" tIns="0" rIns="0" bIns="0" rtlCol="0" anchor="t">
            <a:normAutofit/>
          </a:bodyPr>
          <a:lstStyle/>
          <a:p>
            <a:pPr algn="l" indent="0" marL="0">
              <a:lnSpc>
                <a:spcPts val="6825"/>
              </a:lnSpc>
              <a:buNone/>
            </a:pPr>
            <a:r>
              <a:rPr lang="en-US" sz="6500" b="1" i="0" dirty="0">
                <a:solidFill>
                  <a:srgbClr val="14181F"/>
                </a:solidFill>
                <a:latin typeface="IBM Plex Sans" pitchFamily="34" charset="0"/>
                <a:ea typeface="IBM Plex Sans" pitchFamily="34" charset="-122"/>
                <a:cs typeface="IBM Plex Sans" pitchFamily="34" charset="-120"/>
              </a:rPr>
              <a:t>Leak first.</a:t>
            </a:r>
            <a:endParaRPr lang="en-US" sz="6500" dirty="0"/>
          </a:p>
          <a:p>
            <a:pPr algn="l" indent="0" marL="0">
              <a:lnSpc>
                <a:spcPts val="6825"/>
              </a:lnSpc>
              <a:buNone/>
            </a:pPr>
            <a:r>
              <a:rPr lang="en-US" sz="6500" b="1" i="0" dirty="0">
                <a:solidFill>
                  <a:srgbClr val="14181F"/>
                </a:solidFill>
                <a:latin typeface="IBM Plex Sans" pitchFamily="34" charset="0"/>
                <a:ea typeface="IBM Plex Sans" pitchFamily="34" charset="-122"/>
                <a:cs typeface="IBM Plex Sans" pitchFamily="34" charset="-120"/>
              </a:rPr>
              <a:t>Then write.</a:t>
            </a:r>
            <a:endParaRPr lang="en-US" sz="6500" dirty="0"/>
          </a:p>
        </p:txBody>
      </p:sp>
      <p:sp>
        <p:nvSpPr>
          <p:cNvPr id="3" name="Text 1"/>
          <p:cNvSpPr/>
          <p:nvPr/>
        </p:nvSpPr>
        <p:spPr>
          <a:xfrm>
            <a:off x="812800" y="4411960"/>
            <a:ext cx="9810750" cy="402530"/>
          </a:xfrm>
          <a:prstGeom prst="rect">
            <a:avLst/>
          </a:prstGeom>
          <a:noFill/>
          <a:ln/>
        </p:spPr>
        <p:txBody>
          <a:bodyPr wrap="square" lIns="0" tIns="0" rIns="0" bIns="0" rtlCol="0" anchor="t">
            <a:normAutofit/>
          </a:bodyPr>
          <a:lstStyle/>
          <a:p>
            <a:pPr algn="l" indent="0" marL="0">
              <a:lnSpc>
                <a:spcPts val="2970"/>
              </a:lnSpc>
              <a:buNone/>
            </a:pPr>
            <a:r>
              <a:rPr lang="en-US" sz="2200" dirty="0">
                <a:solidFill>
                  <a:srgbClr val="3D2E05"/>
                </a:solidFill>
                <a:latin typeface="IBM Plex Sans" pitchFamily="34" charset="0"/>
                <a:ea typeface="IBM Plex Sans" pitchFamily="34" charset="-122"/>
                <a:cs typeface="IBM Plex Sans" pitchFamily="34" charset="-120"/>
              </a:rPr>
              <a:t>Modern exploitation is a chain.</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812800" y="1003300"/>
            <a:ext cx="685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3A008"/>
                </a:solidFill>
                <a:latin typeface="JetBrains Mono" pitchFamily="49" charset="0"/>
                <a:ea typeface="JetBrains Mono" pitchFamily="49" charset="-122"/>
                <a:cs typeface="JetBrains Mono" pitchFamily="49" charset="-120"/>
              </a:rPr>
              <a:t>BUG 1</a:t>
            </a:r>
            <a:endParaRPr lang="en-US" sz="1500" dirty="0"/>
          </a:p>
        </p:txBody>
      </p:sp>
      <p:sp>
        <p:nvSpPr>
          <p:cNvPr id="3" name="Text 1"/>
          <p:cNvSpPr/>
          <p:nvPr>
            <p:ph type="title"/>
          </p:nvPr>
        </p:nvSpPr>
        <p:spPr>
          <a:xfrm>
            <a:off x="1536700" y="812800"/>
            <a:ext cx="6183868"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E6E9EF"/>
                </a:solidFill>
                <a:latin typeface="IBM Plex Sans" pitchFamily="34" charset="0"/>
                <a:ea typeface="IBM Plex Sans" pitchFamily="34" charset="-122"/>
                <a:cs typeface="IBM Plex Sans" pitchFamily="34" charset="-120"/>
              </a:rPr>
              <a:t>Use-after-free to leak libc</a:t>
            </a:r>
            <a:endParaRPr lang="en-US" sz="3400" dirty="0"/>
          </a:p>
        </p:txBody>
      </p:sp>
      <p:sp>
        <p:nvSpPr>
          <p:cNvPr id="4" name="Text 2"/>
          <p:cNvSpPr/>
          <p:nvPr/>
        </p:nvSpPr>
        <p:spPr>
          <a:xfrm>
            <a:off x="815975" y="1570335"/>
            <a:ext cx="5410200" cy="1466850"/>
          </a:xfrm>
          <a:prstGeom prst="roundRect">
            <a:avLst>
              <a:gd name="adj" fmla="val 6710"/>
            </a:avLst>
          </a:prstGeom>
          <a:solidFill>
            <a:srgbClr val="1C2230"/>
          </a:solidFill>
          <a:ln w="6350">
            <a:solidFill>
              <a:srgbClr val="2B3444"/>
            </a:solidFill>
            <a:prstDash val="solid"/>
          </a:ln>
        </p:spPr>
        <p:txBody>
          <a:bodyPr wrap="square" lIns="228347" tIns="228347" rIns="81472" bIns="202947" rtlCol="0" anchor="t">
            <a:normAutofit/>
          </a:bodyPr>
          <a:lstStyle/>
          <a:p>
            <a:pPr algn="l" indent="0" marL="0">
              <a:lnSpc>
                <a:spcPts val="1875"/>
              </a:lnSpc>
              <a:buNone/>
            </a:pPr>
            <a:r>
              <a:rPr lang="en-US" sz="1250" dirty="0">
                <a:solidFill>
                  <a:srgbClr val="9AA4B2"/>
                </a:solidFill>
                <a:latin typeface="JetBrains Mono" pitchFamily="49" charset="0"/>
                <a:ea typeface="JetBrains Mono" pitchFamily="49" charset="-122"/>
                <a:cs typeface="JetBrains Mono" pitchFamily="49" charset="-120"/>
              </a:rPr>
              <a:t>free(notes[i]);</a:t>
            </a:r>
            <a:endParaRPr lang="en-US" sz="1250" dirty="0"/>
          </a:p>
          <a:p>
            <a:pPr algn="l" indent="0" marL="0">
              <a:lnSpc>
                <a:spcPts val="1875"/>
              </a:lnSpc>
              <a:buNone/>
            </a:pPr>
            <a:r>
              <a:rPr lang="en-US" sz="1250" dirty="0">
                <a:solidFill>
                  <a:srgbClr val="F08A8A"/>
                </a:solidFill>
                <a:latin typeface="JetBrains Mono" pitchFamily="49" charset="0"/>
                <a:ea typeface="JetBrains Mono" pitchFamily="49" charset="-122"/>
                <a:cs typeface="JetBrains Mono" pitchFamily="49" charset="-120"/>
              </a:rPr>
              <a:t>// pointer not cleared</a:t>
            </a:r>
            <a:endParaRPr lang="en-US" sz="1250" dirty="0"/>
          </a:p>
          <a:p>
            <a:pPr algn="l" indent="0" marL="0">
              <a:lnSpc>
                <a:spcPts val="1875"/>
              </a:lnSpc>
              <a:buNone/>
            </a:pPr>
            <a:endParaRPr lang="en-US" sz="1250" dirty="0"/>
          </a:p>
          <a:p>
            <a:pPr algn="l" indent="0" marL="0">
              <a:lnSpc>
                <a:spcPts val="1875"/>
              </a:lnSpc>
              <a:buNone/>
            </a:pPr>
            <a:r>
              <a:rPr lang="en-US" sz="1250" dirty="0">
                <a:solidFill>
                  <a:srgbClr val="9AA4B2"/>
                </a:solidFill>
                <a:latin typeface="JetBrains Mono" pitchFamily="49" charset="0"/>
                <a:ea typeface="JetBrains Mono" pitchFamily="49" charset="-122"/>
                <a:cs typeface="JetBrains Mono" pitchFamily="49" charset="-120"/>
              </a:rPr>
              <a:t>show(i); </a:t>
            </a:r>
            <a:r>
              <a:rPr lang="en-US" sz="1250" dirty="0">
                <a:solidFill>
                  <a:srgbClr val="6B7686"/>
                </a:solidFill>
                <a:latin typeface="JetBrains Mono" pitchFamily="49" charset="0"/>
                <a:ea typeface="JetBrains Mono" pitchFamily="49" charset="-122"/>
                <a:cs typeface="JetBrains Mono" pitchFamily="49" charset="-120"/>
              </a:rPr>
              <a:t>// reads freed chunk</a:t>
            </a:r>
            <a:endParaRPr lang="en-US" sz="1250" dirty="0"/>
          </a:p>
        </p:txBody>
      </p:sp>
      <p:sp>
        <p:nvSpPr>
          <p:cNvPr id="5" name="Text 3"/>
          <p:cNvSpPr/>
          <p:nvPr/>
        </p:nvSpPr>
        <p:spPr>
          <a:xfrm>
            <a:off x="6483350" y="1671340"/>
            <a:ext cx="5042726"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E9EF"/>
                </a:solidFill>
                <a:latin typeface="IBM Plex Sans" pitchFamily="34" charset="0"/>
                <a:ea typeface="IBM Plex Sans" pitchFamily="34" charset="-122"/>
                <a:cs typeface="IBM Plex Sans" pitchFamily="34" charset="-120"/>
              </a:rPr>
              <a:t>A freed 0x430 chunk is too big for tcache, so it lands in the </a:t>
            </a:r>
            <a:r>
              <a:rPr lang="en-US" sz="1600" b="1" dirty="0">
                <a:solidFill>
                  <a:srgbClr val="F0B429"/>
                </a:solidFill>
                <a:latin typeface="IBM Plex Sans" pitchFamily="34" charset="0"/>
                <a:ea typeface="IBM Plex Sans" pitchFamily="34" charset="-122"/>
                <a:cs typeface="IBM Plex Sans" pitchFamily="34" charset="-120"/>
              </a:rPr>
              <a:t>unsorted bin</a:t>
            </a:r>
            <a:r>
              <a:rPr lang="en-US" sz="1600" dirty="0">
                <a:solidFill>
                  <a:srgbClr val="E6E9EF"/>
                </a:solidFill>
                <a:latin typeface="IBM Plex Sans" pitchFamily="34" charset="0"/>
                <a:ea typeface="IBM Plex Sans" pitchFamily="34" charset="-122"/>
                <a:cs typeface="IBM Plex Sans" pitchFamily="34" charset="-120"/>
              </a:rPr>
              <a:t>.</a:t>
            </a:r>
            <a:endParaRPr lang="en-US" sz="1600" dirty="0"/>
          </a:p>
        </p:txBody>
      </p:sp>
      <p:sp>
        <p:nvSpPr>
          <p:cNvPr id="6" name="Text 4"/>
          <p:cNvSpPr/>
          <p:nvPr/>
        </p:nvSpPr>
        <p:spPr>
          <a:xfrm>
            <a:off x="6483350" y="2367260"/>
            <a:ext cx="5042726"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E9EF"/>
                </a:solidFill>
                <a:latin typeface="IBM Plex Sans" pitchFamily="34" charset="0"/>
                <a:ea typeface="IBM Plex Sans" pitchFamily="34" charset="-122"/>
                <a:cs typeface="IBM Plex Sans" pitchFamily="34" charset="-120"/>
              </a:rPr>
              <a:t>Its fd/bk now point into </a:t>
            </a:r>
            <a:r>
              <a:rPr lang="en-US" sz="1600" b="1" dirty="0">
                <a:solidFill>
                  <a:srgbClr val="F0B429"/>
                </a:solidFill>
                <a:latin typeface="IBM Plex Sans" pitchFamily="34" charset="0"/>
                <a:ea typeface="IBM Plex Sans" pitchFamily="34" charset="-122"/>
                <a:cs typeface="IBM Plex Sans" pitchFamily="34" charset="-120"/>
              </a:rPr>
              <a:t>main_arena</a:t>
            </a:r>
            <a:r>
              <a:rPr lang="en-US" sz="1600" dirty="0">
                <a:solidFill>
                  <a:srgbClr val="E6E9EF"/>
                </a:solidFill>
                <a:latin typeface="IBM Plex Sans" pitchFamily="34" charset="0"/>
                <a:ea typeface="IBM Plex Sans" pitchFamily="34" charset="-122"/>
                <a:cs typeface="IBM Plex Sans" pitchFamily="34" charset="-120"/>
              </a:rPr>
              <a:t>, inside libc. Read them and you know where libc is.</a:t>
            </a:r>
            <a:endParaRPr lang="en-US" sz="1600" dirty="0"/>
          </a:p>
        </p:txBody>
      </p:sp>
      <p:sp>
        <p:nvSpPr>
          <p:cNvPr id="7" name="Shape 5"/>
          <p:cNvSpPr/>
          <p:nvPr/>
        </p:nvSpPr>
        <p:spPr>
          <a:xfrm>
            <a:off x="812800" y="3319760"/>
            <a:ext cx="10566400" cy="595610"/>
          </a:xfrm>
          <a:prstGeom prst="roundRect">
            <a:avLst>
              <a:gd name="adj" fmla="val 12794"/>
            </a:avLst>
          </a:prstGeom>
          <a:solidFill>
            <a:srgbClr val="161B24"/>
          </a:solidFill>
          <a:ln/>
        </p:spPr>
      </p:sp>
      <p:sp>
        <p:nvSpPr>
          <p:cNvPr id="8" name="Text 6"/>
          <p:cNvSpPr/>
          <p:nvPr/>
        </p:nvSpPr>
        <p:spPr>
          <a:xfrm>
            <a:off x="1041400" y="3506391"/>
            <a:ext cx="4415962"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4AC97E"/>
                </a:solidFill>
                <a:latin typeface="JetBrains Mono" pitchFamily="49" charset="0"/>
                <a:ea typeface="JetBrains Mono" pitchFamily="49" charset="-122"/>
                <a:cs typeface="JetBrains Mono" pitchFamily="49" charset="-120"/>
              </a:rPr>
              <a:t>alloc 0 → alloc 1 (barrier) → free 0 → show 0</a:t>
            </a:r>
            <a:endParaRPr lang="en-US" sz="1250" dirty="0"/>
          </a:p>
        </p:txBody>
      </p:sp>
      <p:sp>
        <p:nvSpPr>
          <p:cNvPr id="9" name="Text 7"/>
          <p:cNvSpPr/>
          <p:nvPr/>
        </p:nvSpPr>
        <p:spPr>
          <a:xfrm>
            <a:off x="5430341" y="3497560"/>
            <a:ext cx="2176820" cy="265410"/>
          </a:xfrm>
          <a:prstGeom prst="rect">
            <a:avLst/>
          </a:prstGeom>
          <a:noFill/>
          <a:ln/>
        </p:spPr>
        <p:txBody>
          <a:bodyPr wrap="square" lIns="0" tIns="0" rIns="0" bIns="0" rtlCol="0" anchor="t">
            <a:normAutofit/>
          </a:bodyPr>
          <a:lstStyle/>
          <a:p>
            <a:pPr algn="l" indent="0" marL="0">
              <a:lnSpc>
                <a:spcPts val="1890"/>
              </a:lnSpc>
              <a:buNone/>
            </a:pPr>
            <a:r>
              <a:rPr lang="en-US" sz="1350" dirty="0">
                <a:solidFill>
                  <a:srgbClr val="9AA4B2"/>
                </a:solidFill>
                <a:latin typeface="IBM Plex Sans" pitchFamily="34" charset="0"/>
                <a:ea typeface="IBM Plex Sans" pitchFamily="34" charset="-122"/>
                <a:cs typeface="IBM Plex Sans" pitchFamily="34" charset="-120"/>
              </a:rPr>
              <a:t>  → a 0x7f… libc pointer</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812800" y="1003300"/>
            <a:ext cx="685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3A008"/>
                </a:solidFill>
                <a:latin typeface="JetBrains Mono" pitchFamily="49" charset="0"/>
                <a:ea typeface="JetBrains Mono" pitchFamily="49" charset="-122"/>
                <a:cs typeface="JetBrains Mono" pitchFamily="49" charset="-120"/>
              </a:rPr>
              <a:t>BUG 2</a:t>
            </a:r>
            <a:endParaRPr lang="en-US" sz="1500" dirty="0"/>
          </a:p>
        </p:txBody>
      </p:sp>
      <p:sp>
        <p:nvSpPr>
          <p:cNvPr id="3" name="Text 1"/>
          <p:cNvSpPr/>
          <p:nvPr>
            <p:ph type="title"/>
          </p:nvPr>
        </p:nvSpPr>
        <p:spPr>
          <a:xfrm>
            <a:off x="1536700" y="812800"/>
            <a:ext cx="7635716"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E6E9EF"/>
                </a:solidFill>
                <a:latin typeface="IBM Plex Sans" pitchFamily="34" charset="0"/>
                <a:ea typeface="IBM Plex Sans" pitchFamily="34" charset="-122"/>
                <a:cs typeface="IBM Plex Sans" pitchFamily="34" charset="-120"/>
              </a:rPr>
              <a:t>Format string to leak the canary</a:t>
            </a:r>
            <a:endParaRPr lang="en-US" sz="3400" dirty="0"/>
          </a:p>
        </p:txBody>
      </p:sp>
      <p:sp>
        <p:nvSpPr>
          <p:cNvPr id="4" name="Text 2"/>
          <p:cNvSpPr/>
          <p:nvPr/>
        </p:nvSpPr>
        <p:spPr>
          <a:xfrm>
            <a:off x="815975" y="1570335"/>
            <a:ext cx="5410200" cy="1704975"/>
          </a:xfrm>
          <a:prstGeom prst="roundRect">
            <a:avLst>
              <a:gd name="adj" fmla="val 5773"/>
            </a:avLst>
          </a:prstGeom>
          <a:solidFill>
            <a:srgbClr val="1C2230"/>
          </a:solidFill>
          <a:ln w="6350">
            <a:solidFill>
              <a:srgbClr val="2B3444"/>
            </a:solidFill>
            <a:prstDash val="solid"/>
          </a:ln>
        </p:spPr>
        <p:txBody>
          <a:bodyPr wrap="square" lIns="228347" tIns="228347" rIns="81472" bIns="202947" rtlCol="0" anchor="t">
            <a:normAutofit/>
          </a:bodyPr>
          <a:lstStyle/>
          <a:p>
            <a:pPr algn="l" indent="0" marL="0">
              <a:lnSpc>
                <a:spcPts val="1875"/>
              </a:lnSpc>
              <a:buNone/>
            </a:pPr>
            <a:r>
              <a:rPr lang="en-US" sz="1250" dirty="0">
                <a:solidFill>
                  <a:srgbClr val="9AA4B2"/>
                </a:solidFill>
                <a:latin typeface="JetBrains Mono" pitchFamily="49" charset="0"/>
                <a:ea typeface="JetBrains Mono" pitchFamily="49" charset="-122"/>
                <a:cs typeface="JetBrains Mono" pitchFamily="49" charset="-120"/>
              </a:rPr>
              <a:t>printf(line);</a:t>
            </a:r>
            <a:endParaRPr lang="en-US" sz="1250" dirty="0"/>
          </a:p>
          <a:p>
            <a:pPr algn="l" indent="0" marL="0">
              <a:lnSpc>
                <a:spcPts val="1875"/>
              </a:lnSpc>
              <a:buNone/>
            </a:pPr>
            <a:r>
              <a:rPr lang="en-US" sz="1250" dirty="0">
                <a:solidFill>
                  <a:srgbClr val="F08A8A"/>
                </a:solidFill>
                <a:latin typeface="JetBrains Mono" pitchFamily="49" charset="0"/>
                <a:ea typeface="JetBrains Mono" pitchFamily="49" charset="-122"/>
                <a:cs typeface="JetBrains Mono" pitchFamily="49" charset="-120"/>
              </a:rPr>
              <a:t>// line is the FORMAT,</a:t>
            </a:r>
            <a:endParaRPr lang="en-US" sz="1250" dirty="0"/>
          </a:p>
          <a:p>
            <a:pPr algn="l" indent="0" marL="0">
              <a:lnSpc>
                <a:spcPts val="1875"/>
              </a:lnSpc>
              <a:buNone/>
            </a:pPr>
            <a:r>
              <a:rPr lang="en-US" sz="1250" dirty="0">
                <a:solidFill>
                  <a:srgbClr val="F08A8A"/>
                </a:solidFill>
                <a:latin typeface="JetBrains Mono" pitchFamily="49" charset="0"/>
                <a:ea typeface="JetBrains Mono" pitchFamily="49" charset="-122"/>
                <a:cs typeface="JetBrains Mono" pitchFamily="49" charset="-120"/>
              </a:rPr>
              <a:t>// not an argument</a:t>
            </a:r>
            <a:endParaRPr lang="en-US" sz="1250" dirty="0"/>
          </a:p>
          <a:p>
            <a:pPr algn="l" indent="0" marL="0">
              <a:lnSpc>
                <a:spcPts val="1875"/>
              </a:lnSpc>
              <a:buNone/>
            </a:pPr>
            <a:endParaRPr lang="en-US" sz="1250" dirty="0"/>
          </a:p>
          <a:p>
            <a:pPr algn="l" indent="0" marL="0">
              <a:lnSpc>
                <a:spcPts val="1875"/>
              </a:lnSpc>
              <a:buNone/>
            </a:pPr>
            <a:r>
              <a:rPr lang="en-US" sz="1250" dirty="0">
                <a:solidFill>
                  <a:srgbClr val="4AC97E"/>
                </a:solidFill>
                <a:latin typeface="JetBrains Mono" pitchFamily="49" charset="0"/>
                <a:ea typeface="JetBrains Mono" pitchFamily="49" charset="-122"/>
                <a:cs typeface="JetBrains Mono" pitchFamily="49" charset="-120"/>
              </a:rPr>
              <a:t>line = "%15$p"</a:t>
            </a:r>
            <a:endParaRPr lang="en-US" sz="1250" dirty="0"/>
          </a:p>
        </p:txBody>
      </p:sp>
      <p:sp>
        <p:nvSpPr>
          <p:cNvPr id="5" name="Text 3"/>
          <p:cNvSpPr/>
          <p:nvPr/>
        </p:nvSpPr>
        <p:spPr>
          <a:xfrm>
            <a:off x="6483350" y="1790402"/>
            <a:ext cx="5042726"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E9EF"/>
                </a:solidFill>
                <a:latin typeface="IBM Plex Sans" pitchFamily="34" charset="0"/>
                <a:ea typeface="IBM Plex Sans" pitchFamily="34" charset="-122"/>
                <a:cs typeface="IBM Plex Sans" pitchFamily="34" charset="-120"/>
              </a:rPr>
              <a:t>The canary is a </a:t>
            </a:r>
            <a:r>
              <a:rPr lang="en-US" sz="1600" dirty="0">
                <a:solidFill>
                  <a:srgbClr val="F0B429"/>
                </a:solidFill>
                <a:latin typeface="IBM Plex Sans" pitchFamily="34" charset="0"/>
                <a:ea typeface="IBM Plex Sans" pitchFamily="34" charset="-122"/>
                <a:cs typeface="IBM Plex Sans" pitchFamily="34" charset="-120"/>
              </a:rPr>
              <a:t>stack</a:t>
            </a:r>
            <a:r>
              <a:rPr lang="en-US" sz="1600" dirty="0">
                <a:solidFill>
                  <a:srgbClr val="E6E9EF"/>
                </a:solidFill>
                <a:latin typeface="IBM Plex Sans" pitchFamily="34" charset="0"/>
                <a:ea typeface="IBM Plex Sans" pitchFamily="34" charset="-122"/>
                <a:cs typeface="IBM Plex Sans" pitchFamily="34" charset="-120"/>
              </a:rPr>
              <a:t> mitigation, so we must defeat it separately.</a:t>
            </a:r>
            <a:endParaRPr lang="en-US" sz="1600" dirty="0"/>
          </a:p>
        </p:txBody>
      </p:sp>
      <p:sp>
        <p:nvSpPr>
          <p:cNvPr id="6" name="Text 4"/>
          <p:cNvSpPr/>
          <p:nvPr/>
        </p:nvSpPr>
        <p:spPr>
          <a:xfrm>
            <a:off x="6483350" y="2486323"/>
            <a:ext cx="5042726" cy="594320"/>
          </a:xfrm>
          <a:prstGeom prst="rect">
            <a:avLst/>
          </a:prstGeom>
          <a:noFill/>
          <a:ln/>
        </p:spPr>
        <p:txBody>
          <a:bodyPr wrap="square" lIns="0" tIns="0" rIns="0" bIns="0" rtlCol="0" anchor="t">
            <a:normAutofit/>
          </a:bodyPr>
          <a:lstStyle/>
          <a:p>
            <a:pPr algn="l" indent="0" marL="0">
              <a:lnSpc>
                <a:spcPts val="2240"/>
              </a:lnSpc>
              <a:buNone/>
            </a:pPr>
            <a:r>
              <a:rPr lang="en-US" sz="1600" dirty="0">
                <a:solidFill>
                  <a:srgbClr val="E6E9EF"/>
                </a:solidFill>
                <a:latin typeface="IBM Plex Sans" pitchFamily="34" charset="0"/>
                <a:ea typeface="IBM Plex Sans" pitchFamily="34" charset="-122"/>
                <a:cs typeface="IBM Plex Sans" pitchFamily="34" charset="-120"/>
              </a:rPr>
              <a:t>A positional read walks the stack and leaks the </a:t>
            </a:r>
            <a:r>
              <a:rPr lang="en-US" sz="1600" b="1" dirty="0">
                <a:solidFill>
                  <a:srgbClr val="E6E9EF"/>
                </a:solidFill>
                <a:latin typeface="IBM Plex Sans" pitchFamily="34" charset="0"/>
                <a:ea typeface="IBM Plex Sans" pitchFamily="34" charset="-122"/>
                <a:cs typeface="IBM Plex Sans" pitchFamily="34" charset="-120"/>
              </a:rPr>
              <a:t>canary</a:t>
            </a:r>
            <a:r>
              <a:rPr lang="en-US" sz="1600" dirty="0">
                <a:solidFill>
                  <a:srgbClr val="E6E9EF"/>
                </a:solidFill>
                <a:latin typeface="IBM Plex Sans" pitchFamily="34" charset="0"/>
                <a:ea typeface="IBM Plex Sans" pitchFamily="34" charset="-122"/>
                <a:cs typeface="IBM Plex Sans" pitchFamily="34" charset="-120"/>
              </a:rPr>
              <a:t>.</a:t>
            </a:r>
            <a:endParaRPr lang="en-US" sz="1600" dirty="0"/>
          </a:p>
        </p:txBody>
      </p:sp>
      <p:sp>
        <p:nvSpPr>
          <p:cNvPr id="7" name="Text 5"/>
          <p:cNvSpPr/>
          <p:nvPr/>
        </p:nvSpPr>
        <p:spPr>
          <a:xfrm>
            <a:off x="812800" y="3557885"/>
            <a:ext cx="10566400" cy="604441"/>
          </a:xfrm>
          <a:prstGeom prst="roundRect">
            <a:avLst>
              <a:gd name="adj" fmla="val 12607"/>
            </a:avLst>
          </a:prstGeom>
          <a:solidFill>
            <a:srgbClr val="161B24"/>
          </a:solidFill>
          <a:ln/>
        </p:spPr>
        <p:txBody>
          <a:bodyPr wrap="square" lIns="231682" tIns="155482" rIns="0" bIns="130082" rtlCol="0" anchor="t">
            <a:normAutofit/>
          </a:bodyPr>
          <a:lstStyle/>
          <a:p>
            <a:pPr algn="l" indent="0" marL="0">
              <a:lnSpc>
                <a:spcPts val="1960"/>
              </a:lnSpc>
              <a:buNone/>
            </a:pPr>
            <a:r>
              <a:rPr lang="en-US" sz="1400" b="1" dirty="0">
                <a:solidFill>
                  <a:srgbClr val="4AC97E"/>
                </a:solidFill>
                <a:latin typeface="IBM Plex Sans" pitchFamily="34" charset="0"/>
                <a:ea typeface="IBM Plex Sans" pitchFamily="34" charset="-122"/>
                <a:cs typeface="IBM Plex Sans" pitchFamily="34" charset="-120"/>
              </a:rPr>
              <a:t>Canary leaked</a:t>
            </a:r>
            <a:r>
              <a:rPr lang="en-US" sz="1400" dirty="0">
                <a:solidFill>
                  <a:srgbClr val="E6E9EF"/>
                </a:solidFill>
                <a:latin typeface="IBM Plex Sans" pitchFamily="34" charset="0"/>
                <a:ea typeface="IBM Plex Sans" pitchFamily="34" charset="-122"/>
                <a:cs typeface="IBM Plex Sans" pitchFamily="34" charset="-120"/>
              </a:rPr>
              <a:t> → we can smash the stack and replace the canary</a:t>
            </a:r>
            <a:endParaRPr lang="en-US" sz="1400" dirty="0"/>
          </a:p>
        </p:txBody>
      </p:sp>
      <p:sp>
        <p:nvSpPr>
          <p:cNvPr id="8" name="Shape 6"/>
          <p:cNvSpPr/>
          <p:nvPr/>
        </p:nvSpPr>
        <p:spPr>
          <a:xfrm>
            <a:off x="812800" y="3557885"/>
            <a:ext cx="10566400" cy="604441"/>
          </a:xfrm>
          <a:custGeom>
            <a:avLst/>
            <a:gdLst/>
            <a:ahLst/>
            <a:cxnLst/>
            <a:rect l="l" t="t" r="r" b="b"/>
            <a:pathLst>
              <a:path w="10566400" h="604441">
                <a:moveTo>
                  <a:pt x="76200" y="604441"/>
                </a:moveTo>
                <a:lnTo>
                  <a:pt x="76200" y="604441"/>
                </a:lnTo>
                <a:arcTo hR="76200" wR="76200" stAng="5400000" swAng="5400000"/>
                <a:lnTo>
                  <a:pt x="0" y="76200"/>
                </a:lnTo>
                <a:arcTo hR="76200" wR="76200" stAng="10800000" swAng="5400000"/>
                <a:lnTo>
                  <a:pt x="76200" y="0"/>
                </a:lnTo>
                <a:arcTo hR="76200" wR="50800" stAng="16200000" swAng="-5400000"/>
                <a:lnTo>
                  <a:pt x="25400" y="528241"/>
                </a:lnTo>
                <a:arcTo hR="76200" wR="50800" stAng="10800000" swAng="-5400000"/>
                <a:close/>
              </a:path>
            </a:pathLst>
          </a:custGeom>
          <a:solidFill>
            <a:srgbClr val="4AC97E"/>
          </a:solidFill>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812800" y="1003300"/>
            <a:ext cx="685800" cy="292100"/>
          </a:xfrm>
          <a:prstGeom prst="rect">
            <a:avLst/>
          </a:prstGeom>
          <a:noFill/>
          <a:ln/>
        </p:spPr>
        <p:txBody>
          <a:bodyPr wrap="square" lIns="0" tIns="0" rIns="0" bIns="0" rtlCol="0" anchor="t">
            <a:normAutofit/>
          </a:bodyPr>
          <a:lstStyle/>
          <a:p>
            <a:pPr algn="l" indent="0" marL="0">
              <a:lnSpc>
                <a:spcPts val="2100"/>
              </a:lnSpc>
              <a:buNone/>
            </a:pPr>
            <a:r>
              <a:rPr lang="en-US" sz="1500" b="1" dirty="0">
                <a:solidFill>
                  <a:srgbClr val="E3A008"/>
                </a:solidFill>
                <a:latin typeface="JetBrains Mono" pitchFamily="49" charset="0"/>
                <a:ea typeface="JetBrains Mono" pitchFamily="49" charset="-122"/>
                <a:cs typeface="JetBrains Mono" pitchFamily="49" charset="-120"/>
              </a:rPr>
              <a:t>BUG 3</a:t>
            </a:r>
            <a:endParaRPr lang="en-US" sz="1500" dirty="0"/>
          </a:p>
        </p:txBody>
      </p:sp>
      <p:sp>
        <p:nvSpPr>
          <p:cNvPr id="3" name="Text 1"/>
          <p:cNvSpPr/>
          <p:nvPr>
            <p:ph type="title"/>
          </p:nvPr>
        </p:nvSpPr>
        <p:spPr>
          <a:xfrm>
            <a:off x="1536700" y="812800"/>
            <a:ext cx="57642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E6E9EF"/>
                </a:solidFill>
                <a:latin typeface="IBM Plex Sans" pitchFamily="34" charset="0"/>
                <a:ea typeface="IBM Plex Sans" pitchFamily="34" charset="-122"/>
                <a:cs typeface="IBM Plex Sans" pitchFamily="34" charset="-120"/>
              </a:rPr>
              <a:t>Stack overflow and ROP</a:t>
            </a:r>
            <a:endParaRPr lang="en-US" sz="3400" dirty="0"/>
          </a:p>
        </p:txBody>
      </p:sp>
      <p:sp>
        <p:nvSpPr>
          <p:cNvPr id="4" name="Text 2"/>
          <p:cNvSpPr/>
          <p:nvPr/>
        </p:nvSpPr>
        <p:spPr>
          <a:xfrm>
            <a:off x="815975" y="1570335"/>
            <a:ext cx="5410200" cy="1466850"/>
          </a:xfrm>
          <a:prstGeom prst="roundRect">
            <a:avLst>
              <a:gd name="adj" fmla="val 6710"/>
            </a:avLst>
          </a:prstGeom>
          <a:solidFill>
            <a:srgbClr val="1C2230"/>
          </a:solidFill>
          <a:ln w="6350">
            <a:solidFill>
              <a:srgbClr val="2B3444"/>
            </a:solidFill>
            <a:prstDash val="solid"/>
          </a:ln>
        </p:spPr>
        <p:txBody>
          <a:bodyPr wrap="square" lIns="228347" tIns="228347" rIns="81472" bIns="202947" rtlCol="0" anchor="t">
            <a:normAutofit/>
          </a:bodyPr>
          <a:lstStyle/>
          <a:p>
            <a:pPr algn="l" indent="0" marL="0">
              <a:lnSpc>
                <a:spcPts val="1875"/>
              </a:lnSpc>
              <a:buNone/>
            </a:pPr>
            <a:r>
              <a:rPr lang="en-US" sz="1250" dirty="0">
                <a:solidFill>
                  <a:srgbClr val="9AA4B2"/>
                </a:solidFill>
                <a:latin typeface="JetBrains Mono" pitchFamily="49" charset="0"/>
                <a:ea typeface="JetBrains Mono" pitchFamily="49" charset="-122"/>
                <a:cs typeface="JetBrains Mono" pitchFamily="49" charset="-120"/>
              </a:rPr>
              <a:t>char buf[64];</a:t>
            </a:r>
            <a:endParaRPr lang="en-US" sz="1250" dirty="0"/>
          </a:p>
          <a:p>
            <a:pPr algn="l" indent="0" marL="0">
              <a:lnSpc>
                <a:spcPts val="1875"/>
              </a:lnSpc>
              <a:buNone/>
            </a:pPr>
            <a:r>
              <a:rPr lang="en-US" sz="1250" dirty="0">
                <a:solidFill>
                  <a:srgbClr val="9AA4B2"/>
                </a:solidFill>
                <a:latin typeface="JetBrains Mono" pitchFamily="49" charset="0"/>
                <a:ea typeface="JetBrains Mono" pitchFamily="49" charset="-122"/>
                <a:cs typeface="JetBrains Mono" pitchFamily="49" charset="-120"/>
              </a:rPr>
              <a:t>read(0, buf, 256);</a:t>
            </a:r>
            <a:endParaRPr lang="en-US" sz="1250" dirty="0"/>
          </a:p>
          <a:p>
            <a:pPr algn="l" indent="0" marL="0">
              <a:lnSpc>
                <a:spcPts val="1875"/>
              </a:lnSpc>
              <a:buNone/>
            </a:pPr>
            <a:r>
              <a:rPr lang="en-US" sz="1250" dirty="0">
                <a:solidFill>
                  <a:srgbClr val="F08A8A"/>
                </a:solidFill>
                <a:latin typeface="JetBrains Mono" pitchFamily="49" charset="0"/>
                <a:ea typeface="JetBrains Mono" pitchFamily="49" charset="-122"/>
                <a:cs typeface="JetBrains Mono" pitchFamily="49" charset="-120"/>
              </a:rPr>
              <a:t>// 64-byte buffer,</a:t>
            </a:r>
            <a:endParaRPr lang="en-US" sz="1250" dirty="0"/>
          </a:p>
          <a:p>
            <a:pPr algn="l" indent="0" marL="0">
              <a:lnSpc>
                <a:spcPts val="1875"/>
              </a:lnSpc>
              <a:buNone/>
            </a:pPr>
            <a:r>
              <a:rPr lang="en-US" sz="1250" dirty="0">
                <a:solidFill>
                  <a:srgbClr val="F08A8A"/>
                </a:solidFill>
                <a:latin typeface="JetBrains Mono" pitchFamily="49" charset="0"/>
                <a:ea typeface="JetBrains Mono" pitchFamily="49" charset="-122"/>
                <a:cs typeface="JetBrains Mono" pitchFamily="49" charset="-120"/>
              </a:rPr>
              <a:t>// 256 bytes in</a:t>
            </a:r>
            <a:endParaRPr lang="en-US" sz="1250" dirty="0"/>
          </a:p>
        </p:txBody>
      </p:sp>
      <p:sp>
        <p:nvSpPr>
          <p:cNvPr id="5" name="Text 3"/>
          <p:cNvSpPr/>
          <p:nvPr/>
        </p:nvSpPr>
        <p:spPr>
          <a:xfrm>
            <a:off x="6483350" y="1603673"/>
            <a:ext cx="5042726" cy="796925"/>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6E9EF"/>
                </a:solidFill>
                <a:latin typeface="IBM Plex Sans" pitchFamily="34" charset="0"/>
                <a:ea typeface="IBM Plex Sans" pitchFamily="34" charset="-122"/>
                <a:cs typeface="IBM Plex Sans" pitchFamily="34" charset="-120"/>
              </a:rPr>
              <a:t>NX tried to kill RCE via shellcode, but it can't stop the program from executing its own code. So we reuse code already in the process: a </a:t>
            </a:r>
            <a:r>
              <a:rPr lang="en-US" sz="1500" b="1" dirty="0">
                <a:solidFill>
                  <a:srgbClr val="F0B429"/>
                </a:solidFill>
                <a:latin typeface="IBM Plex Sans" pitchFamily="34" charset="0"/>
                <a:ea typeface="IBM Plex Sans" pitchFamily="34" charset="-122"/>
                <a:cs typeface="IBM Plex Sans" pitchFamily="34" charset="-120"/>
              </a:rPr>
              <a:t>ROP chain</a:t>
            </a:r>
            <a:r>
              <a:rPr lang="en-US" sz="1500" dirty="0">
                <a:solidFill>
                  <a:srgbClr val="E6E9EF"/>
                </a:solidFill>
                <a:latin typeface="IBM Plex Sans" pitchFamily="34" charset="0"/>
                <a:ea typeface="IBM Plex Sans" pitchFamily="34" charset="-122"/>
                <a:cs typeface="IBM Plex Sans" pitchFamily="34" charset="-120"/>
              </a:rPr>
              <a:t> into libc.</a:t>
            </a:r>
            <a:endParaRPr lang="en-US" sz="1500" dirty="0"/>
          </a:p>
        </p:txBody>
      </p:sp>
      <p:sp>
        <p:nvSpPr>
          <p:cNvPr id="6" name="Text 4"/>
          <p:cNvSpPr/>
          <p:nvPr/>
        </p:nvSpPr>
        <p:spPr>
          <a:xfrm>
            <a:off x="6483350" y="2489498"/>
            <a:ext cx="5042726" cy="539750"/>
          </a:xfrm>
          <a:prstGeom prst="rect">
            <a:avLst/>
          </a:prstGeom>
          <a:noFill/>
          <a:ln/>
        </p:spPr>
        <p:txBody>
          <a:bodyPr wrap="square" lIns="0" tIns="0" rIns="0" bIns="0" rtlCol="0" anchor="t">
            <a:normAutofit/>
          </a:bodyPr>
          <a:lstStyle/>
          <a:p>
            <a:pPr algn="l" indent="0" marL="0">
              <a:lnSpc>
                <a:spcPts val="2025"/>
              </a:lnSpc>
              <a:buNone/>
            </a:pPr>
            <a:r>
              <a:rPr lang="en-US" sz="1500" dirty="0">
                <a:solidFill>
                  <a:srgbClr val="E6E9EF"/>
                </a:solidFill>
                <a:latin typeface="IBM Plex Sans" pitchFamily="34" charset="0"/>
                <a:ea typeface="IBM Plex Sans" pitchFamily="34" charset="-122"/>
                <a:cs typeface="IBM Plex Sans" pitchFamily="34" charset="-120"/>
              </a:rPr>
              <a:t>Both leaks are used here: the </a:t>
            </a:r>
            <a:r>
              <a:rPr lang="en-US" sz="1500" b="1" dirty="0">
                <a:solidFill>
                  <a:srgbClr val="4AC97E"/>
                </a:solidFill>
                <a:latin typeface="IBM Plex Sans" pitchFamily="34" charset="0"/>
                <a:ea typeface="IBM Plex Sans" pitchFamily="34" charset="-122"/>
                <a:cs typeface="IBM Plex Sans" pitchFamily="34" charset="-120"/>
              </a:rPr>
              <a:t>canary</a:t>
            </a:r>
            <a:r>
              <a:rPr lang="en-US" sz="1500" dirty="0">
                <a:solidFill>
                  <a:srgbClr val="E6E9EF"/>
                </a:solidFill>
                <a:latin typeface="IBM Plex Sans" pitchFamily="34" charset="0"/>
                <a:ea typeface="IBM Plex Sans" pitchFamily="34" charset="-122"/>
                <a:cs typeface="IBM Plex Sans" pitchFamily="34" charset="-120"/>
              </a:rPr>
              <a:t> gets replanted, the </a:t>
            </a:r>
            <a:r>
              <a:rPr lang="en-US" sz="1500" b="1" dirty="0">
                <a:solidFill>
                  <a:srgbClr val="4AC97E"/>
                </a:solidFill>
                <a:latin typeface="IBM Plex Sans" pitchFamily="34" charset="0"/>
                <a:ea typeface="IBM Plex Sans" pitchFamily="34" charset="-122"/>
                <a:cs typeface="IBM Plex Sans" pitchFamily="34" charset="-120"/>
              </a:rPr>
              <a:t>libc base</a:t>
            </a:r>
            <a:r>
              <a:rPr lang="en-US" sz="1500" dirty="0">
                <a:solidFill>
                  <a:srgbClr val="E6E9EF"/>
                </a:solidFill>
                <a:latin typeface="IBM Plex Sans" pitchFamily="34" charset="0"/>
                <a:ea typeface="IBM Plex Sans" pitchFamily="34" charset="-122"/>
                <a:cs typeface="IBM Plex Sans" pitchFamily="34" charset="-120"/>
              </a:rPr>
              <a:t> locates system and "/bin/sh".</a:t>
            </a:r>
            <a:endParaRPr lang="en-US" sz="1500" dirty="0"/>
          </a:p>
        </p:txBody>
      </p:sp>
      <p:sp>
        <p:nvSpPr>
          <p:cNvPr id="7" name="Shape 5"/>
          <p:cNvSpPr/>
          <p:nvPr/>
        </p:nvSpPr>
        <p:spPr>
          <a:xfrm>
            <a:off x="812800" y="3319760"/>
            <a:ext cx="10566400" cy="1088330"/>
          </a:xfrm>
          <a:prstGeom prst="roundRect">
            <a:avLst>
              <a:gd name="adj" fmla="val 8168"/>
            </a:avLst>
          </a:prstGeom>
          <a:solidFill>
            <a:srgbClr val="161B24"/>
          </a:solidFill>
          <a:ln/>
        </p:spPr>
      </p:sp>
      <p:sp>
        <p:nvSpPr>
          <p:cNvPr id="8" name="Text 6"/>
          <p:cNvSpPr/>
          <p:nvPr/>
        </p:nvSpPr>
        <p:spPr>
          <a:xfrm>
            <a:off x="1066800" y="3548360"/>
            <a:ext cx="10360152" cy="247650"/>
          </a:xfrm>
          <a:prstGeom prst="rect">
            <a:avLst/>
          </a:prstGeom>
          <a:noFill/>
          <a:ln/>
        </p:spPr>
        <p:txBody>
          <a:bodyPr wrap="square" lIns="0" tIns="0" rIns="0" bIns="0" rtlCol="0" anchor="t">
            <a:normAutofit/>
          </a:bodyPr>
          <a:lstStyle/>
          <a:p>
            <a:pPr algn="l" indent="0" marL="0">
              <a:lnSpc>
                <a:spcPts val="1750"/>
              </a:lnSpc>
              <a:buNone/>
            </a:pPr>
            <a:r>
              <a:rPr lang="en-US" sz="1250" dirty="0">
                <a:solidFill>
                  <a:srgbClr val="6B7686"/>
                </a:solidFill>
                <a:latin typeface="JetBrains Mono" pitchFamily="49" charset="0"/>
                <a:ea typeface="JetBrains Mono" pitchFamily="49" charset="-122"/>
                <a:cs typeface="JetBrains Mono" pitchFamily="49" charset="-120"/>
              </a:rPr>
              <a:t>the chain</a:t>
            </a:r>
            <a:endParaRPr lang="en-US" sz="1250" dirty="0"/>
          </a:p>
        </p:txBody>
      </p:sp>
      <p:sp>
        <p:nvSpPr>
          <p:cNvPr id="9" name="Text 7"/>
          <p:cNvSpPr/>
          <p:nvPr/>
        </p:nvSpPr>
        <p:spPr>
          <a:xfrm>
            <a:off x="1066800" y="3884910"/>
            <a:ext cx="10360152" cy="319980"/>
          </a:xfrm>
          <a:prstGeom prst="rect">
            <a:avLst/>
          </a:prstGeom>
          <a:noFill/>
          <a:ln/>
        </p:spPr>
        <p:txBody>
          <a:bodyPr wrap="square" lIns="0" tIns="0" rIns="0" bIns="0" rtlCol="0" anchor="t">
            <a:normAutofit/>
          </a:bodyPr>
          <a:lstStyle/>
          <a:p>
            <a:pPr algn="l" indent="0" marL="0">
              <a:lnSpc>
                <a:spcPts val="2320"/>
              </a:lnSpc>
              <a:buNone/>
            </a:pPr>
            <a:r>
              <a:rPr lang="en-US" sz="1450" dirty="0">
                <a:solidFill>
                  <a:srgbClr val="E6E9EF"/>
                </a:solidFill>
                <a:latin typeface="JetBrains Mono" pitchFamily="49" charset="0"/>
                <a:ea typeface="JetBrains Mono" pitchFamily="49" charset="-122"/>
                <a:cs typeface="JetBrains Mono" pitchFamily="49" charset="-120"/>
              </a:rPr>
              <a:t>padding → </a:t>
            </a:r>
            <a:r>
              <a:rPr lang="en-US" sz="1450" dirty="0">
                <a:solidFill>
                  <a:srgbClr val="4AC97E"/>
                </a:solidFill>
                <a:latin typeface="JetBrains Mono" pitchFamily="49" charset="0"/>
                <a:ea typeface="JetBrains Mono" pitchFamily="49" charset="-122"/>
                <a:cs typeface="JetBrains Mono" pitchFamily="49" charset="-120"/>
              </a:rPr>
              <a:t>[leaked canary]</a:t>
            </a:r>
            <a:r>
              <a:rPr lang="en-US" sz="1450" dirty="0">
                <a:solidFill>
                  <a:srgbClr val="E6E9EF"/>
                </a:solidFill>
                <a:latin typeface="JetBrains Mono" pitchFamily="49" charset="0"/>
                <a:ea typeface="JetBrains Mono" pitchFamily="49" charset="-122"/>
                <a:cs typeface="JetBrains Mono" pitchFamily="49" charset="-120"/>
              </a:rPr>
              <a:t> → saved regs → </a:t>
            </a:r>
            <a:r>
              <a:rPr lang="en-US" sz="1450" dirty="0">
                <a:solidFill>
                  <a:srgbClr val="F0B429"/>
                </a:solidFill>
                <a:latin typeface="JetBrains Mono" pitchFamily="49" charset="0"/>
                <a:ea typeface="JetBrains Mono" pitchFamily="49" charset="-122"/>
                <a:cs typeface="JetBrains Mono" pitchFamily="49" charset="-120"/>
              </a:rPr>
              <a:t>pop rdi; ret</a:t>
            </a:r>
            <a:r>
              <a:rPr lang="en-US" sz="1450" dirty="0">
                <a:solidFill>
                  <a:srgbClr val="E6E9EF"/>
                </a:solidFill>
                <a:latin typeface="JetBrains Mono" pitchFamily="49" charset="0"/>
                <a:ea typeface="JetBrains Mono" pitchFamily="49" charset="-122"/>
                <a:cs typeface="JetBrains Mono" pitchFamily="49" charset="-120"/>
              </a:rPr>
              <a:t> → &amp;"/bin/sh"</a:t>
            </a:r>
            <a:r>
              <a:rPr lang="en-US" sz="1450" dirty="0">
                <a:solidFill>
                  <a:srgbClr val="6B7686"/>
                </a:solidFill>
                <a:latin typeface="JetBrains Mono" pitchFamily="49" charset="0"/>
                <a:ea typeface="JetBrains Mono" pitchFamily="49" charset="-122"/>
                <a:cs typeface="JetBrains Mono" pitchFamily="49" charset="-120"/>
              </a:rPr>
              <a:t>(libc)</a:t>
            </a:r>
            <a:r>
              <a:rPr lang="en-US" sz="1450" dirty="0">
                <a:solidFill>
                  <a:srgbClr val="E6E9EF"/>
                </a:solidFill>
                <a:latin typeface="JetBrains Mono" pitchFamily="49" charset="0"/>
                <a:ea typeface="JetBrains Mono" pitchFamily="49" charset="-122"/>
                <a:cs typeface="JetBrains Mono" pitchFamily="49" charset="-120"/>
              </a:rPr>
              <a:t> → system</a:t>
            </a:r>
            <a:r>
              <a:rPr lang="en-US" sz="1450" dirty="0">
                <a:solidFill>
                  <a:srgbClr val="6B7686"/>
                </a:solidFill>
                <a:latin typeface="JetBrains Mono" pitchFamily="49" charset="0"/>
                <a:ea typeface="JetBrains Mono" pitchFamily="49" charset="-122"/>
                <a:cs typeface="JetBrains Mono" pitchFamily="49" charset="-120"/>
              </a:rPr>
              <a:t>(libc)</a:t>
            </a:r>
            <a:endParaRPr lang="en-US" sz="14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C2230"/>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E3A008"/>
                </a:solidFill>
                <a:latin typeface="JetBrains Mono" pitchFamily="49" charset="0"/>
                <a:ea typeface="JetBrains Mono" pitchFamily="49" charset="-122"/>
                <a:cs typeface="JetBrains Mono" pitchFamily="49" charset="-120"/>
              </a:rPr>
              <a:t>THE EXPLOIT CHAIN</a:t>
            </a:r>
            <a:endParaRPr lang="en-US" sz="1300" dirty="0"/>
          </a:p>
        </p:txBody>
      </p:sp>
      <p:sp>
        <p:nvSpPr>
          <p:cNvPr id="3" name="Text 1"/>
          <p:cNvSpPr/>
          <p:nvPr>
            <p:ph type="title"/>
          </p:nvPr>
        </p:nvSpPr>
        <p:spPr>
          <a:xfrm>
            <a:off x="812800" y="112008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E6E9EF"/>
                </a:solidFill>
                <a:latin typeface="IBM Plex Sans" pitchFamily="34" charset="0"/>
                <a:ea typeface="IBM Plex Sans" pitchFamily="34" charset="-122"/>
                <a:cs typeface="IBM Plex Sans" pitchFamily="34" charset="-120"/>
              </a:rPr>
              <a:t>Tie it all together</a:t>
            </a:r>
            <a:endParaRPr lang="en-US" sz="34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5500" y="1912541"/>
          <a:ext cx="10553700" cy="2372122"/>
        </p:xfrm>
        <a:graphic>
          <a:graphicData uri="http://schemas.openxmlformats.org/drawingml/2006/table">
            <a:tbl>
              <a:tblPr/>
              <a:tblGrid>
                <a:gridCol w="3166110"/>
                <a:gridCol w="3588258"/>
                <a:gridCol w="3799332"/>
              </a:tblGrid>
              <a:tr h="593030">
                <a:tc>
                  <a:txBody>
                    <a:bodyPr/>
                    <a:lstStyle/>
                    <a:p>
                      <a:pPr indent="0" marL="0">
                        <a:lnSpc>
                          <a:spcPts val="2170"/>
                        </a:lnSpc>
                        <a:buNone/>
                      </a:pPr>
                      <a:r>
                        <a:rPr lang="en-US" sz="1550" b="1" dirty="0">
                          <a:solidFill>
                            <a:srgbClr val="9AA4B2"/>
                          </a:solidFill>
                          <a:latin typeface="IBM Plex Sans" pitchFamily="34" charset="0"/>
                          <a:ea typeface="IBM Plex Sans" pitchFamily="34" charset="-122"/>
                          <a:cs typeface="IBM Plex Sans" pitchFamily="34" charset="-120"/>
                        </a:rPr>
                        <a:t>Protection</a:t>
                      </a:r>
                      <a:endParaRPr lang="en-US" sz="1550" dirty="0">
                        <a:latin typeface="IBM Plex Sans" charset="0"/>
                        <a:ea typeface="IBM Plex Sans" charset="0"/>
                        <a:cs typeface="IBM Plex Sans" charset="0"/>
                      </a:endParaRPr>
                    </a:p>
                  </a:txBody>
                  <a:tcPr marL="177800" marR="177800" marT="152400" marB="152400" anchor="t">
                    <a:lnL w="12700" cap="flat" cmpd="sng" algn="ctr">
                      <a:solidFill>
                        <a:srgbClr val="4D515B"/>
                      </a:solidFill>
                      <a:prstDash val="solid"/>
                      <a:round/>
                      <a:headEnd type="none" w="med" len="med"/>
                      <a:tailEnd type="none" w="med" len="med"/>
                    </a:lnL>
                    <a:lnR w="12700" cap="flat" cmpd="sng" algn="ctr">
                      <a:solidFill>
                        <a:srgbClr val="474A4E"/>
                      </a:solidFill>
                      <a:prstDash val="solid"/>
                      <a:round/>
                      <a:headEnd type="none" w="med" len="med"/>
                      <a:tailEnd type="none" w="med" len="med"/>
                    </a:lnR>
                    <a:lnT w="12700" cap="flat" cmpd="sng" algn="ctr">
                      <a:solidFill>
                        <a:srgbClr val="4D515B"/>
                      </a:solidFill>
                      <a:prstDash val="solid"/>
                      <a:round/>
                      <a:headEnd type="none" w="med" len="med"/>
                      <a:tailEnd type="none" w="med" len="med"/>
                    </a:lnT>
                    <a:lnB w="12700" cap="flat" cmpd="sng" algn="ctr">
                      <a:solidFill>
                        <a:srgbClr val="474A4E"/>
                      </a:solidFill>
                      <a:prstDash val="solid"/>
                      <a:round/>
                      <a:headEnd type="none" w="med" len="med"/>
                      <a:tailEnd type="none" w="med" len="med"/>
                    </a:lnB>
                    <a:solidFill>
                      <a:srgbClr val="14181F"/>
                    </a:solidFill>
                  </a:tcPr>
                </a:tc>
                <a:tc>
                  <a:txBody>
                    <a:bodyPr/>
                    <a:lstStyle/>
                    <a:p>
                      <a:pPr indent="0" marL="0">
                        <a:lnSpc>
                          <a:spcPts val="2170"/>
                        </a:lnSpc>
                        <a:buNone/>
                      </a:pPr>
                      <a:r>
                        <a:rPr lang="en-US" sz="1550" b="1" dirty="0">
                          <a:solidFill>
                            <a:srgbClr val="9AA4B2"/>
                          </a:solidFill>
                          <a:latin typeface="IBM Plex Sans" pitchFamily="34" charset="0"/>
                          <a:ea typeface="IBM Plex Sans" pitchFamily="34" charset="-122"/>
                          <a:cs typeface="IBM Plex Sans" pitchFamily="34" charset="-120"/>
                        </a:rPr>
                        <a:t>Defeated by</a:t>
                      </a:r>
                      <a:endParaRPr lang="en-US" sz="1550" dirty="0">
                        <a:latin typeface="IBM Plex Sans" charset="0"/>
                        <a:ea typeface="IBM Plex Sans" charset="0"/>
                        <a:cs typeface="IBM Plex Sans" charset="0"/>
                      </a:endParaRPr>
                    </a:p>
                  </a:txBody>
                  <a:tcPr marL="177800" marR="177800" marT="152400" marB="152400" anchor="t">
                    <a:lnL w="12700" cap="flat" cmpd="sng" algn="ctr">
                      <a:solidFill>
                        <a:srgbClr val="474A4E"/>
                      </a:solidFill>
                      <a:prstDash val="solid"/>
                      <a:round/>
                      <a:headEnd type="none" w="med" len="med"/>
                      <a:tailEnd type="none" w="med" len="med"/>
                    </a:lnL>
                    <a:lnR w="12700" cap="flat" cmpd="sng" algn="ctr">
                      <a:solidFill>
                        <a:srgbClr val="474A4E"/>
                      </a:solidFill>
                      <a:prstDash val="solid"/>
                      <a:round/>
                      <a:headEnd type="none" w="med" len="med"/>
                      <a:tailEnd type="none" w="med" len="med"/>
                    </a:lnR>
                    <a:lnT w="12700" cap="flat" cmpd="sng" algn="ctr">
                      <a:solidFill>
                        <a:srgbClr val="4D515B"/>
                      </a:solidFill>
                      <a:prstDash val="solid"/>
                      <a:round/>
                      <a:headEnd type="none" w="med" len="med"/>
                      <a:tailEnd type="none" w="med" len="med"/>
                    </a:lnT>
                    <a:lnB w="12700" cap="flat" cmpd="sng" algn="ctr">
                      <a:solidFill>
                        <a:srgbClr val="474A4E"/>
                      </a:solidFill>
                      <a:prstDash val="solid"/>
                      <a:round/>
                      <a:headEnd type="none" w="med" len="med"/>
                      <a:tailEnd type="none" w="med" len="med"/>
                    </a:lnB>
                    <a:solidFill>
                      <a:srgbClr val="14181F"/>
                    </a:solidFill>
                  </a:tcPr>
                </a:tc>
                <a:tc>
                  <a:txBody>
                    <a:bodyPr/>
                    <a:lstStyle/>
                    <a:p>
                      <a:pPr indent="0" marL="0">
                        <a:lnSpc>
                          <a:spcPts val="2170"/>
                        </a:lnSpc>
                        <a:buNone/>
                      </a:pPr>
                      <a:r>
                        <a:rPr lang="en-US" sz="1550" b="1" dirty="0">
                          <a:solidFill>
                            <a:srgbClr val="9AA4B2"/>
                          </a:solidFill>
                          <a:latin typeface="IBM Plex Sans" pitchFamily="34" charset="0"/>
                          <a:ea typeface="IBM Plex Sans" pitchFamily="34" charset="-122"/>
                          <a:cs typeface="IBM Plex Sans" pitchFamily="34" charset="-120"/>
                        </a:rPr>
                        <a:t>Bug</a:t>
                      </a:r>
                      <a:endParaRPr lang="en-US" sz="1550" dirty="0">
                        <a:latin typeface="IBM Plex Sans" charset="0"/>
                        <a:ea typeface="IBM Plex Sans" charset="0"/>
                        <a:cs typeface="IBM Plex Sans" charset="0"/>
                      </a:endParaRPr>
                    </a:p>
                  </a:txBody>
                  <a:tcPr marL="177800" marR="177800" marT="152400" marB="152400" anchor="t">
                    <a:lnL w="12700" cap="flat" cmpd="sng" algn="ctr">
                      <a:solidFill>
                        <a:srgbClr val="474A4E"/>
                      </a:solidFill>
                      <a:prstDash val="solid"/>
                      <a:round/>
                      <a:headEnd type="none" w="med" len="med"/>
                      <a:tailEnd type="none" w="med" len="med"/>
                    </a:lnL>
                    <a:lnR w="12700" cap="flat" cmpd="sng" algn="ctr">
                      <a:solidFill>
                        <a:srgbClr val="474A4E"/>
                      </a:solidFill>
                      <a:prstDash val="solid"/>
                      <a:round/>
                      <a:headEnd type="none" w="med" len="med"/>
                      <a:tailEnd type="none" w="med" len="med"/>
                    </a:lnR>
                    <a:lnT w="12700" cap="flat" cmpd="sng" algn="ctr">
                      <a:solidFill>
                        <a:srgbClr val="4D515B"/>
                      </a:solidFill>
                      <a:prstDash val="solid"/>
                      <a:round/>
                      <a:headEnd type="none" w="med" len="med"/>
                      <a:tailEnd type="none" w="med" len="med"/>
                    </a:lnT>
                    <a:lnB w="12700" cap="flat" cmpd="sng" algn="ctr">
                      <a:solidFill>
                        <a:srgbClr val="474A4E"/>
                      </a:solidFill>
                      <a:prstDash val="solid"/>
                      <a:round/>
                      <a:headEnd type="none" w="med" len="med"/>
                      <a:tailEnd type="none" w="med" len="med"/>
                    </a:lnB>
                    <a:solidFill>
                      <a:srgbClr val="14181F"/>
                    </a:solidFill>
                  </a:tcPr>
                </a:tc>
              </a:tr>
              <a:tr h="593030">
                <a:tc>
                  <a:txBody>
                    <a:bodyPr/>
                    <a:lstStyle/>
                    <a:p>
                      <a:pPr indent="0" marL="0">
                        <a:lnSpc>
                          <a:spcPts val="2170"/>
                        </a:lnSpc>
                        <a:buNone/>
                      </a:pPr>
                      <a:r>
                        <a:rPr lang="en-US" sz="1550" dirty="0">
                          <a:solidFill>
                            <a:srgbClr val="E6E9EF"/>
                          </a:solidFill>
                          <a:latin typeface="IBM Plex Sans" pitchFamily="34" charset="0"/>
                          <a:ea typeface="IBM Plex Sans" pitchFamily="34" charset="-122"/>
                          <a:cs typeface="IBM Plex Sans" pitchFamily="34" charset="-120"/>
                        </a:rPr>
                        <a:t>ASLR (libc)</a:t>
                      </a:r>
                      <a:endParaRPr lang="en-US" sz="1550" dirty="0">
                        <a:latin typeface="IBM Plex Sans" charset="0"/>
                        <a:ea typeface="IBM Plex Sans" charset="0"/>
                        <a:cs typeface="IBM Plex Sans" charset="0"/>
                      </a:endParaRPr>
                    </a:p>
                  </a:txBody>
                  <a:tcPr marL="177800" marR="177800" marT="152400" marB="152400" anchor="t">
                    <a:lnL w="12700" cap="flat" cmpd="sng" algn="ctr">
                      <a:solidFill>
                        <a:srgbClr val="4D515B"/>
                      </a:solidFill>
                      <a:prstDash val="solid"/>
                      <a:round/>
                      <a:headEnd type="none" w="med" len="med"/>
                      <a:tailEnd type="none" w="med" len="med"/>
                    </a:lnL>
                    <a:lnR w="12700" cap="flat" cmpd="sng" algn="ctr">
                      <a:solidFill>
                        <a:srgbClr val="4D515B"/>
                      </a:solidFill>
                      <a:prstDash val="solid"/>
                      <a:round/>
                      <a:headEnd type="none" w="med" len="med"/>
                      <a:tailEnd type="none" w="med" len="med"/>
                    </a:lnR>
                    <a:lnT w="12700" cap="flat" cmpd="sng" algn="ctr">
                      <a:solidFill>
                        <a:srgbClr val="474A4E"/>
                      </a:solidFill>
                      <a:prstDash val="solid"/>
                      <a:round/>
                      <a:headEnd type="none" w="med" len="med"/>
                      <a:tailEnd type="none" w="med" len="med"/>
                    </a:lnT>
                    <a:lnB w="12700" cap="flat" cmpd="sng" algn="ctr">
                      <a:solidFill>
                        <a:srgbClr val="4D515B"/>
                      </a:solidFill>
                      <a:prstDash val="solid"/>
                      <a:round/>
                      <a:headEnd type="none" w="med" len="med"/>
                      <a:tailEnd type="none" w="med" len="med"/>
                    </a:lnB>
                  </a:tcPr>
                </a:tc>
                <a:tc>
                  <a:txBody>
                    <a:bodyPr/>
                    <a:lstStyle/>
                    <a:p>
                      <a:pPr indent="0" marL="0">
                        <a:lnSpc>
                          <a:spcPts val="2170"/>
                        </a:lnSpc>
                        <a:buNone/>
                      </a:pPr>
                      <a:r>
                        <a:rPr lang="en-US" sz="1550" dirty="0">
                          <a:solidFill>
                            <a:srgbClr val="C3CBD6"/>
                          </a:solidFill>
                          <a:latin typeface="IBM Plex Sans" pitchFamily="34" charset="0"/>
                          <a:ea typeface="IBM Plex Sans" pitchFamily="34" charset="-122"/>
                          <a:cs typeface="IBM Plex Sans" pitchFamily="34" charset="-120"/>
                        </a:rPr>
                        <a:t>unsorted-bin read</a:t>
                      </a:r>
                      <a:endParaRPr lang="en-US" sz="1550" dirty="0">
                        <a:latin typeface="IBM Plex Sans" charset="0"/>
                        <a:ea typeface="IBM Plex Sans" charset="0"/>
                        <a:cs typeface="IBM Plex Sans" charset="0"/>
                      </a:endParaRPr>
                    </a:p>
                  </a:txBody>
                  <a:tcPr marL="177800" marR="177800" marT="152400" marB="152400" anchor="t">
                    <a:lnL w="12700" cap="flat" cmpd="sng" algn="ctr">
                      <a:solidFill>
                        <a:srgbClr val="4D515B"/>
                      </a:solidFill>
                      <a:prstDash val="solid"/>
                      <a:round/>
                      <a:headEnd type="none" w="med" len="med"/>
                      <a:tailEnd type="none" w="med" len="med"/>
                    </a:lnL>
                    <a:lnR w="12700" cap="flat" cmpd="sng" algn="ctr">
                      <a:solidFill>
                        <a:srgbClr val="4D515B"/>
                      </a:solidFill>
                      <a:prstDash val="solid"/>
                      <a:round/>
                      <a:headEnd type="none" w="med" len="med"/>
                      <a:tailEnd type="none" w="med" len="med"/>
                    </a:lnR>
                    <a:lnT w="12700" cap="flat" cmpd="sng" algn="ctr">
                      <a:solidFill>
                        <a:srgbClr val="474A4E"/>
                      </a:solidFill>
                      <a:prstDash val="solid"/>
                      <a:round/>
                      <a:headEnd type="none" w="med" len="med"/>
                      <a:tailEnd type="none" w="med" len="med"/>
                    </a:lnT>
                    <a:lnB w="12700" cap="flat" cmpd="sng" algn="ctr">
                      <a:solidFill>
                        <a:srgbClr val="4D515B"/>
                      </a:solidFill>
                      <a:prstDash val="solid"/>
                      <a:round/>
                      <a:headEnd type="none" w="med" len="med"/>
                      <a:tailEnd type="none" w="med" len="med"/>
                    </a:lnB>
                  </a:tcPr>
                </a:tc>
                <a:tc>
                  <a:txBody>
                    <a:bodyPr/>
                    <a:lstStyle/>
                    <a:p>
                      <a:pPr indent="0" marL="0">
                        <a:lnSpc>
                          <a:spcPts val="2170"/>
                        </a:lnSpc>
                        <a:buNone/>
                      </a:pPr>
                      <a:r>
                        <a:rPr lang="en-US" sz="1550" dirty="0">
                          <a:solidFill>
                            <a:srgbClr val="F0B429"/>
                          </a:solidFill>
                          <a:latin typeface="IBM Plex Sans" pitchFamily="34" charset="0"/>
                          <a:ea typeface="IBM Plex Sans" pitchFamily="34" charset="-122"/>
                          <a:cs typeface="IBM Plex Sans" pitchFamily="34" charset="-120"/>
                        </a:rPr>
                        <a:t>use-after-free</a:t>
                      </a:r>
                      <a:endParaRPr lang="en-US" sz="1550" dirty="0">
                        <a:latin typeface="IBM Plex Sans" charset="0"/>
                        <a:ea typeface="IBM Plex Sans" charset="0"/>
                        <a:cs typeface="IBM Plex Sans" charset="0"/>
                      </a:endParaRPr>
                    </a:p>
                  </a:txBody>
                  <a:tcPr marL="177800" marR="177800" marT="152400" marB="152400" anchor="t">
                    <a:lnL w="12700" cap="flat" cmpd="sng" algn="ctr">
                      <a:solidFill>
                        <a:srgbClr val="4D515B"/>
                      </a:solidFill>
                      <a:prstDash val="solid"/>
                      <a:round/>
                      <a:headEnd type="none" w="med" len="med"/>
                      <a:tailEnd type="none" w="med" len="med"/>
                    </a:lnL>
                    <a:lnR w="12700" cap="flat" cmpd="sng" algn="ctr">
                      <a:solidFill>
                        <a:srgbClr val="4D515B"/>
                      </a:solidFill>
                      <a:prstDash val="solid"/>
                      <a:round/>
                      <a:headEnd type="none" w="med" len="med"/>
                      <a:tailEnd type="none" w="med" len="med"/>
                    </a:lnR>
                    <a:lnT w="12700" cap="flat" cmpd="sng" algn="ctr">
                      <a:solidFill>
                        <a:srgbClr val="474A4E"/>
                      </a:solidFill>
                      <a:prstDash val="solid"/>
                      <a:round/>
                      <a:headEnd type="none" w="med" len="med"/>
                      <a:tailEnd type="none" w="med" len="med"/>
                    </a:lnT>
                    <a:lnB w="12700" cap="flat" cmpd="sng" algn="ctr">
                      <a:solidFill>
                        <a:srgbClr val="4D515B"/>
                      </a:solidFill>
                      <a:prstDash val="solid"/>
                      <a:round/>
                      <a:headEnd type="none" w="med" len="med"/>
                      <a:tailEnd type="none" w="med" len="med"/>
                    </a:lnB>
                  </a:tcPr>
                </a:tc>
              </a:tr>
              <a:tr h="593030">
                <a:tc>
                  <a:txBody>
                    <a:bodyPr/>
                    <a:lstStyle/>
                    <a:p>
                      <a:pPr indent="0" marL="0">
                        <a:lnSpc>
                          <a:spcPts val="2170"/>
                        </a:lnSpc>
                        <a:buNone/>
                      </a:pPr>
                      <a:r>
                        <a:rPr lang="en-US" sz="1550" dirty="0">
                          <a:solidFill>
                            <a:srgbClr val="E6E9EF"/>
                          </a:solidFill>
                          <a:latin typeface="IBM Plex Sans" pitchFamily="34" charset="0"/>
                          <a:ea typeface="IBM Plex Sans" pitchFamily="34" charset="-122"/>
                          <a:cs typeface="IBM Plex Sans" pitchFamily="34" charset="-120"/>
                        </a:rPr>
                        <a:t>Canary</a:t>
                      </a:r>
                      <a:endParaRPr lang="en-US" sz="1550" dirty="0">
                        <a:latin typeface="IBM Plex Sans" charset="0"/>
                        <a:ea typeface="IBM Plex Sans" charset="0"/>
                        <a:cs typeface="IBM Plex Sans" charset="0"/>
                      </a:endParaRPr>
                    </a:p>
                  </a:txBody>
                  <a:tcPr marL="177800" marR="177800" marT="152400" marB="152400" anchor="t">
                    <a:lnL w="12700" cap="flat" cmpd="sng" algn="ctr">
                      <a:solidFill>
                        <a:srgbClr val="4D515B"/>
                      </a:solidFill>
                      <a:prstDash val="solid"/>
                      <a:round/>
                      <a:headEnd type="none" w="med" len="med"/>
                      <a:tailEnd type="none" w="med" len="med"/>
                    </a:lnL>
                    <a:lnR w="12700" cap="flat" cmpd="sng" algn="ctr">
                      <a:solidFill>
                        <a:srgbClr val="484C52"/>
                      </a:solidFill>
                      <a:prstDash val="solid"/>
                      <a:round/>
                      <a:headEnd type="none" w="med" len="med"/>
                      <a:tailEnd type="none" w="med" len="med"/>
                    </a:lnR>
                    <a:lnT w="12700" cap="flat" cmpd="sng" algn="ctr">
                      <a:solidFill>
                        <a:srgbClr val="4D515B"/>
                      </a:solidFill>
                      <a:prstDash val="solid"/>
                      <a:round/>
                      <a:headEnd type="none" w="med" len="med"/>
                      <a:tailEnd type="none" w="med" len="med"/>
                    </a:lnT>
                    <a:lnB w="12700" cap="flat" cmpd="sng" algn="ctr">
                      <a:solidFill>
                        <a:srgbClr val="484C52"/>
                      </a:solidFill>
                      <a:prstDash val="solid"/>
                      <a:round/>
                      <a:headEnd type="none" w="med" len="med"/>
                      <a:tailEnd type="none" w="med" len="med"/>
                    </a:lnB>
                    <a:solidFill>
                      <a:srgbClr val="161B24"/>
                    </a:solidFill>
                  </a:tcPr>
                </a:tc>
                <a:tc>
                  <a:txBody>
                    <a:bodyPr/>
                    <a:lstStyle/>
                    <a:p>
                      <a:pPr indent="0" marL="0">
                        <a:lnSpc>
                          <a:spcPts val="2170"/>
                        </a:lnSpc>
                        <a:buNone/>
                      </a:pPr>
                      <a:r>
                        <a:rPr lang="en-US" sz="1550" dirty="0">
                          <a:solidFill>
                            <a:srgbClr val="C3CBD6"/>
                          </a:solidFill>
                          <a:latin typeface="IBM Plex Sans" pitchFamily="34" charset="0"/>
                          <a:ea typeface="IBM Plex Sans" pitchFamily="34" charset="-122"/>
                          <a:cs typeface="IBM Plex Sans" pitchFamily="34" charset="-120"/>
                        </a:rPr>
                        <a:t>stack read</a:t>
                      </a:r>
                      <a:endParaRPr lang="en-US" sz="1550" dirty="0">
                        <a:latin typeface="IBM Plex Sans" charset="0"/>
                        <a:ea typeface="IBM Plex Sans" charset="0"/>
                        <a:cs typeface="IBM Plex Sans" charset="0"/>
                      </a:endParaRPr>
                    </a:p>
                  </a:txBody>
                  <a:tcPr marL="177800" marR="177800" marT="152400" marB="152400" anchor="t">
                    <a:lnL w="12700" cap="flat" cmpd="sng" algn="ctr">
                      <a:solidFill>
                        <a:srgbClr val="484C52"/>
                      </a:solidFill>
                      <a:prstDash val="solid"/>
                      <a:round/>
                      <a:headEnd type="none" w="med" len="med"/>
                      <a:tailEnd type="none" w="med" len="med"/>
                    </a:lnL>
                    <a:lnR w="12700" cap="flat" cmpd="sng" algn="ctr">
                      <a:solidFill>
                        <a:srgbClr val="484C52"/>
                      </a:solidFill>
                      <a:prstDash val="solid"/>
                      <a:round/>
                      <a:headEnd type="none" w="med" len="med"/>
                      <a:tailEnd type="none" w="med" len="med"/>
                    </a:lnR>
                    <a:lnT w="12700" cap="flat" cmpd="sng" algn="ctr">
                      <a:solidFill>
                        <a:srgbClr val="4D515B"/>
                      </a:solidFill>
                      <a:prstDash val="solid"/>
                      <a:round/>
                      <a:headEnd type="none" w="med" len="med"/>
                      <a:tailEnd type="none" w="med" len="med"/>
                    </a:lnT>
                    <a:lnB w="12700" cap="flat" cmpd="sng" algn="ctr">
                      <a:solidFill>
                        <a:srgbClr val="484C52"/>
                      </a:solidFill>
                      <a:prstDash val="solid"/>
                      <a:round/>
                      <a:headEnd type="none" w="med" len="med"/>
                      <a:tailEnd type="none" w="med" len="med"/>
                    </a:lnB>
                    <a:solidFill>
                      <a:srgbClr val="161B24"/>
                    </a:solidFill>
                  </a:tcPr>
                </a:tc>
                <a:tc>
                  <a:txBody>
                    <a:bodyPr/>
                    <a:lstStyle/>
                    <a:p>
                      <a:pPr indent="0" marL="0">
                        <a:lnSpc>
                          <a:spcPts val="2170"/>
                        </a:lnSpc>
                        <a:buNone/>
                      </a:pPr>
                      <a:r>
                        <a:rPr lang="en-US" sz="1550" dirty="0">
                          <a:solidFill>
                            <a:srgbClr val="F0B429"/>
                          </a:solidFill>
                          <a:latin typeface="IBM Plex Sans" pitchFamily="34" charset="0"/>
                          <a:ea typeface="IBM Plex Sans" pitchFamily="34" charset="-122"/>
                          <a:cs typeface="IBM Plex Sans" pitchFamily="34" charset="-120"/>
                        </a:rPr>
                        <a:t>format string</a:t>
                      </a:r>
                      <a:endParaRPr lang="en-US" sz="1550" dirty="0">
                        <a:latin typeface="IBM Plex Sans" charset="0"/>
                        <a:ea typeface="IBM Plex Sans" charset="0"/>
                        <a:cs typeface="IBM Plex Sans" charset="0"/>
                      </a:endParaRPr>
                    </a:p>
                  </a:txBody>
                  <a:tcPr marL="177800" marR="177800" marT="152400" marB="152400" anchor="t">
                    <a:lnL w="12700" cap="flat" cmpd="sng" algn="ctr">
                      <a:solidFill>
                        <a:srgbClr val="484C52"/>
                      </a:solidFill>
                      <a:prstDash val="solid"/>
                      <a:round/>
                      <a:headEnd type="none" w="med" len="med"/>
                      <a:tailEnd type="none" w="med" len="med"/>
                    </a:lnL>
                    <a:lnR w="12700" cap="flat" cmpd="sng" algn="ctr">
                      <a:solidFill>
                        <a:srgbClr val="484C52"/>
                      </a:solidFill>
                      <a:prstDash val="solid"/>
                      <a:round/>
                      <a:headEnd type="none" w="med" len="med"/>
                      <a:tailEnd type="none" w="med" len="med"/>
                    </a:lnR>
                    <a:lnT w="12700" cap="flat" cmpd="sng" algn="ctr">
                      <a:solidFill>
                        <a:srgbClr val="4D515B"/>
                      </a:solidFill>
                      <a:prstDash val="solid"/>
                      <a:round/>
                      <a:headEnd type="none" w="med" len="med"/>
                      <a:tailEnd type="none" w="med" len="med"/>
                    </a:lnT>
                    <a:lnB w="12700" cap="flat" cmpd="sng" algn="ctr">
                      <a:solidFill>
                        <a:srgbClr val="484C52"/>
                      </a:solidFill>
                      <a:prstDash val="solid"/>
                      <a:round/>
                      <a:headEnd type="none" w="med" len="med"/>
                      <a:tailEnd type="none" w="med" len="med"/>
                    </a:lnB>
                    <a:solidFill>
                      <a:srgbClr val="161B24"/>
                    </a:solidFill>
                  </a:tcPr>
                </a:tc>
              </a:tr>
              <a:tr h="593030">
                <a:tc>
                  <a:txBody>
                    <a:bodyPr/>
                    <a:lstStyle/>
                    <a:p>
                      <a:pPr indent="0" marL="0">
                        <a:lnSpc>
                          <a:spcPts val="2170"/>
                        </a:lnSpc>
                        <a:buNone/>
                      </a:pPr>
                      <a:r>
                        <a:rPr lang="en-US" sz="1550" dirty="0">
                          <a:solidFill>
                            <a:srgbClr val="E6E9EF"/>
                          </a:solidFill>
                          <a:latin typeface="IBM Plex Sans" pitchFamily="34" charset="0"/>
                          <a:ea typeface="IBM Plex Sans" pitchFamily="34" charset="-122"/>
                          <a:cs typeface="IBM Plex Sans" pitchFamily="34" charset="-120"/>
                        </a:rPr>
                        <a:t>NX</a:t>
                      </a:r>
                      <a:endParaRPr lang="en-US" sz="1550" dirty="0">
                        <a:latin typeface="IBM Plex Sans" charset="0"/>
                        <a:ea typeface="IBM Plex Sans" charset="0"/>
                        <a:cs typeface="IBM Plex Sans" charset="0"/>
                      </a:endParaRPr>
                    </a:p>
                  </a:txBody>
                  <a:tcPr marL="177800" marR="177800" marT="152400" marB="152400" anchor="t">
                    <a:lnL w="12700" cap="flat" cmpd="sng" algn="ctr">
                      <a:solidFill>
                        <a:srgbClr val="4D515B"/>
                      </a:solidFill>
                      <a:prstDash val="solid"/>
                      <a:round/>
                      <a:headEnd type="none" w="med" len="med"/>
                      <a:tailEnd type="none" w="med" len="med"/>
                    </a:lnL>
                    <a:lnR w="12700" cap="flat" cmpd="sng" algn="ctr">
                      <a:solidFill>
                        <a:srgbClr val="4D515B"/>
                      </a:solidFill>
                      <a:prstDash val="solid"/>
                      <a:round/>
                      <a:headEnd type="none" w="med" len="med"/>
                      <a:tailEnd type="none" w="med" len="med"/>
                    </a:lnR>
                    <a:lnT w="12700" cap="flat" cmpd="sng" algn="ctr">
                      <a:solidFill>
                        <a:srgbClr val="484C52"/>
                      </a:solidFill>
                      <a:prstDash val="solid"/>
                      <a:round/>
                      <a:headEnd type="none" w="med" len="med"/>
                      <a:tailEnd type="none" w="med" len="med"/>
                    </a:lnT>
                    <a:lnB w="12700" cap="flat" cmpd="sng" algn="ctr">
                      <a:solidFill>
                        <a:srgbClr val="4D515B"/>
                      </a:solidFill>
                      <a:prstDash val="solid"/>
                      <a:round/>
                      <a:headEnd type="none" w="med" len="med"/>
                      <a:tailEnd type="none" w="med" len="med"/>
                    </a:lnB>
                  </a:tcPr>
                </a:tc>
                <a:tc>
                  <a:txBody>
                    <a:bodyPr/>
                    <a:lstStyle/>
                    <a:p>
                      <a:pPr indent="0" marL="0">
                        <a:lnSpc>
                          <a:spcPts val="2170"/>
                        </a:lnSpc>
                        <a:buNone/>
                      </a:pPr>
                      <a:r>
                        <a:rPr lang="en-US" sz="1550" dirty="0">
                          <a:solidFill>
                            <a:srgbClr val="C3CBD6"/>
                          </a:solidFill>
                          <a:latin typeface="IBM Plex Sans" pitchFamily="34" charset="0"/>
                          <a:ea typeface="IBM Plex Sans" pitchFamily="34" charset="-122"/>
                          <a:cs typeface="IBM Plex Sans" pitchFamily="34" charset="-120"/>
                        </a:rPr>
                        <a:t>reuse existing code</a:t>
                      </a:r>
                      <a:endParaRPr lang="en-US" sz="1550" dirty="0">
                        <a:latin typeface="IBM Plex Sans" charset="0"/>
                        <a:ea typeface="IBM Plex Sans" charset="0"/>
                        <a:cs typeface="IBM Plex Sans" charset="0"/>
                      </a:endParaRPr>
                    </a:p>
                  </a:txBody>
                  <a:tcPr marL="177800" marR="177800" marT="152400" marB="152400" anchor="t">
                    <a:lnL w="12700" cap="flat" cmpd="sng" algn="ctr">
                      <a:solidFill>
                        <a:srgbClr val="4D515B"/>
                      </a:solidFill>
                      <a:prstDash val="solid"/>
                      <a:round/>
                      <a:headEnd type="none" w="med" len="med"/>
                      <a:tailEnd type="none" w="med" len="med"/>
                    </a:lnL>
                    <a:lnR w="12700" cap="flat" cmpd="sng" algn="ctr">
                      <a:solidFill>
                        <a:srgbClr val="4D515B"/>
                      </a:solidFill>
                      <a:prstDash val="solid"/>
                      <a:round/>
                      <a:headEnd type="none" w="med" len="med"/>
                      <a:tailEnd type="none" w="med" len="med"/>
                    </a:lnR>
                    <a:lnT w="12700" cap="flat" cmpd="sng" algn="ctr">
                      <a:solidFill>
                        <a:srgbClr val="484C52"/>
                      </a:solidFill>
                      <a:prstDash val="solid"/>
                      <a:round/>
                      <a:headEnd type="none" w="med" len="med"/>
                      <a:tailEnd type="none" w="med" len="med"/>
                    </a:lnT>
                    <a:lnB w="12700" cap="flat" cmpd="sng" algn="ctr">
                      <a:solidFill>
                        <a:srgbClr val="4D515B"/>
                      </a:solidFill>
                      <a:prstDash val="solid"/>
                      <a:round/>
                      <a:headEnd type="none" w="med" len="med"/>
                      <a:tailEnd type="none" w="med" len="med"/>
                    </a:lnB>
                  </a:tcPr>
                </a:tc>
                <a:tc>
                  <a:txBody>
                    <a:bodyPr/>
                    <a:lstStyle/>
                    <a:p>
                      <a:pPr indent="0" marL="0">
                        <a:lnSpc>
                          <a:spcPts val="2170"/>
                        </a:lnSpc>
                        <a:buNone/>
                      </a:pPr>
                      <a:r>
                        <a:rPr lang="en-US" sz="1550" dirty="0">
                          <a:solidFill>
                            <a:srgbClr val="F0B429"/>
                          </a:solidFill>
                          <a:latin typeface="IBM Plex Sans" pitchFamily="34" charset="0"/>
                          <a:ea typeface="IBM Plex Sans" pitchFamily="34" charset="-122"/>
                          <a:cs typeface="IBM Plex Sans" pitchFamily="34" charset="-120"/>
                        </a:rPr>
                        <a:t>stack overflow → ROP</a:t>
                      </a:r>
                      <a:endParaRPr lang="en-US" sz="1550" dirty="0">
                        <a:latin typeface="IBM Plex Sans" charset="0"/>
                        <a:ea typeface="IBM Plex Sans" charset="0"/>
                        <a:cs typeface="IBM Plex Sans" charset="0"/>
                      </a:endParaRPr>
                    </a:p>
                  </a:txBody>
                  <a:tcPr marL="177800" marR="177800" marT="152400" marB="152400" anchor="t">
                    <a:lnL w="12700" cap="flat" cmpd="sng" algn="ctr">
                      <a:solidFill>
                        <a:srgbClr val="4D515B"/>
                      </a:solidFill>
                      <a:prstDash val="solid"/>
                      <a:round/>
                      <a:headEnd type="none" w="med" len="med"/>
                      <a:tailEnd type="none" w="med" len="med"/>
                    </a:lnL>
                    <a:lnR w="12700" cap="flat" cmpd="sng" algn="ctr">
                      <a:solidFill>
                        <a:srgbClr val="4D515B"/>
                      </a:solidFill>
                      <a:prstDash val="solid"/>
                      <a:round/>
                      <a:headEnd type="none" w="med" len="med"/>
                      <a:tailEnd type="none" w="med" len="med"/>
                    </a:lnR>
                    <a:lnT w="12700" cap="flat" cmpd="sng" algn="ctr">
                      <a:solidFill>
                        <a:srgbClr val="484C52"/>
                      </a:solidFill>
                      <a:prstDash val="solid"/>
                      <a:round/>
                      <a:headEnd type="none" w="med" len="med"/>
                      <a:tailEnd type="none" w="med" len="med"/>
                    </a:lnT>
                    <a:lnB w="12700" cap="flat" cmpd="sng" algn="ctr">
                      <a:solidFill>
                        <a:srgbClr val="4D515B"/>
                      </a:solidFill>
                      <a:prstDash val="solid"/>
                      <a:round/>
                      <a:headEnd type="none" w="med" len="med"/>
                      <a:tailEnd type="none" w="med" len="med"/>
                    </a:lnB>
                  </a:tcPr>
                </a:tc>
              </a:tr>
            </a:tbl>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81F"/>
        </a:solidFill>
      </p:bgPr>
    </p:bg>
    <p:spTree>
      <p:nvGrpSpPr>
        <p:cNvPr id="1" name=""/>
        <p:cNvGrpSpPr/>
        <p:nvPr/>
      </p:nvGrpSpPr>
      <p:grpSpPr>
        <a:xfrm>
          <a:off x="0" y="0"/>
          <a:ext cx="0" cy="0"/>
          <a:chOff x="0" y="0"/>
          <a:chExt cx="0" cy="0"/>
        </a:xfrm>
      </p:grpSpPr>
      <p:sp>
        <p:nvSpPr>
          <p:cNvPr id="2" name="Text 0"/>
          <p:cNvSpPr/>
          <p:nvPr/>
        </p:nvSpPr>
        <p:spPr>
          <a:xfrm>
            <a:off x="812800" y="812800"/>
            <a:ext cx="10883392" cy="256480"/>
          </a:xfrm>
          <a:prstGeom prst="rect">
            <a:avLst/>
          </a:prstGeom>
          <a:noFill/>
          <a:ln/>
        </p:spPr>
        <p:txBody>
          <a:bodyPr wrap="square" lIns="0" tIns="0" rIns="0" bIns="0" rtlCol="0" anchor="t">
            <a:normAutofit/>
          </a:bodyPr>
          <a:lstStyle/>
          <a:p>
            <a:pPr algn="l" indent="0" marL="0">
              <a:lnSpc>
                <a:spcPts val="1820"/>
              </a:lnSpc>
              <a:buNone/>
            </a:pPr>
            <a:r>
              <a:rPr lang="en-US" sz="1300" spc="100" kern="0" dirty="0">
                <a:solidFill>
                  <a:srgbClr val="E3A008"/>
                </a:solidFill>
                <a:latin typeface="JetBrains Mono" pitchFamily="49" charset="0"/>
                <a:ea typeface="JetBrains Mono" pitchFamily="49" charset="-122"/>
                <a:cs typeface="JetBrains Mono" pitchFamily="49" charset="-120"/>
              </a:rPr>
              <a:t>THE DOOR WE DIDN'T NEED</a:t>
            </a:r>
            <a:endParaRPr lang="en-US" sz="1300" dirty="0"/>
          </a:p>
        </p:txBody>
      </p:sp>
      <p:sp>
        <p:nvSpPr>
          <p:cNvPr id="3" name="Text 1"/>
          <p:cNvSpPr/>
          <p:nvPr>
            <p:ph type="title"/>
          </p:nvPr>
        </p:nvSpPr>
        <p:spPr>
          <a:xfrm>
            <a:off x="812800" y="1120080"/>
            <a:ext cx="10883392" cy="500360"/>
          </a:xfrm>
          <a:prstGeom prst="rect">
            <a:avLst/>
          </a:prstGeom>
          <a:noFill/>
          <a:ln/>
        </p:spPr>
        <p:txBody>
          <a:bodyPr wrap="square" lIns="0" tIns="0" rIns="0" bIns="0" rtlCol="0" anchor="t">
            <a:normAutofit/>
          </a:bodyPr>
          <a:lstStyle/>
          <a:p>
            <a:pPr algn="l" indent="0" marL="0">
              <a:lnSpc>
                <a:spcPts val="3740"/>
              </a:lnSpc>
              <a:buNone/>
            </a:pPr>
            <a:r>
              <a:rPr lang="en-US" sz="3400" b="1" i="0" dirty="0">
                <a:solidFill>
                  <a:srgbClr val="E6E9EF"/>
                </a:solidFill>
                <a:latin typeface="IBM Plex Sans" pitchFamily="34" charset="0"/>
                <a:ea typeface="IBM Plex Sans" pitchFamily="34" charset="-122"/>
                <a:cs typeface="IBM Plex Sans" pitchFamily="34" charset="-120"/>
              </a:rPr>
              <a:t>RELRO: one linker flag changes everything</a:t>
            </a:r>
            <a:endParaRPr lang="en-US" sz="3400" dirty="0"/>
          </a:p>
        </p:txBody>
      </p:sp>
      <p:sp>
        <p:nvSpPr>
          <p:cNvPr id="4" name="Shape 2"/>
          <p:cNvSpPr/>
          <p:nvPr/>
        </p:nvSpPr>
        <p:spPr>
          <a:xfrm>
            <a:off x="815975" y="1877616"/>
            <a:ext cx="5149850" cy="1756172"/>
          </a:xfrm>
          <a:prstGeom prst="roundRect">
            <a:avLst>
              <a:gd name="adj" fmla="val 5605"/>
            </a:avLst>
          </a:prstGeom>
          <a:solidFill>
            <a:srgbClr val="241A1A"/>
          </a:solidFill>
          <a:ln w="6350">
            <a:solidFill>
              <a:srgbClr val="5A2D2D"/>
            </a:solidFill>
            <a:prstDash val="solid"/>
          </a:ln>
        </p:spPr>
      </p:sp>
      <p:sp>
        <p:nvSpPr>
          <p:cNvPr id="5" name="Text 3"/>
          <p:cNvSpPr/>
          <p:nvPr/>
        </p:nvSpPr>
        <p:spPr>
          <a:xfrm>
            <a:off x="1073150" y="2134791"/>
            <a:ext cx="4774565"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F0B429"/>
                </a:solidFill>
                <a:latin typeface="IBM Plex Sans" pitchFamily="34" charset="0"/>
                <a:ea typeface="IBM Plex Sans" pitchFamily="34" charset="-122"/>
                <a:cs typeface="IBM Plex Sans" pitchFamily="34" charset="-120"/>
              </a:rPr>
              <a:t>Partial RELRO</a:t>
            </a:r>
            <a:endParaRPr lang="en-US" sz="1700" dirty="0"/>
          </a:p>
        </p:txBody>
      </p:sp>
      <p:sp>
        <p:nvSpPr>
          <p:cNvPr id="6" name="Text 4"/>
          <p:cNvSpPr/>
          <p:nvPr/>
        </p:nvSpPr>
        <p:spPr>
          <a:xfrm>
            <a:off x="1073150" y="2551311"/>
            <a:ext cx="47745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B2"/>
                </a:solidFill>
                <a:latin typeface="JetBrains Mono" pitchFamily="49" charset="0"/>
                <a:ea typeface="JetBrains Mono" pitchFamily="49" charset="-122"/>
                <a:cs typeface="JetBrains Mono" pitchFamily="49" charset="-120"/>
              </a:rPr>
              <a:t>GOT is writable</a:t>
            </a:r>
            <a:endParaRPr lang="en-US" sz="1200" dirty="0"/>
          </a:p>
        </p:txBody>
      </p:sp>
      <p:sp>
        <p:nvSpPr>
          <p:cNvPr id="7" name="Text 5"/>
          <p:cNvSpPr/>
          <p:nvPr/>
        </p:nvSpPr>
        <p:spPr>
          <a:xfrm>
            <a:off x="1073150" y="2878931"/>
            <a:ext cx="477456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CBD6"/>
                </a:solidFill>
                <a:latin typeface="IBM Plex Sans" pitchFamily="34" charset="0"/>
                <a:ea typeface="IBM Plex Sans" pitchFamily="34" charset="-122"/>
                <a:cs typeface="IBM Plex Sans" pitchFamily="34" charset="-120"/>
              </a:rPr>
              <a:t>One arbitrary write: point free@got at system, free a "/bin/sh" chunk. No ROP, no stack smash.</a:t>
            </a:r>
            <a:endParaRPr lang="en-US" sz="1400" dirty="0"/>
          </a:p>
        </p:txBody>
      </p:sp>
      <p:sp>
        <p:nvSpPr>
          <p:cNvPr id="8" name="Shape 6"/>
          <p:cNvSpPr/>
          <p:nvPr/>
        </p:nvSpPr>
        <p:spPr>
          <a:xfrm>
            <a:off x="6226175" y="1877616"/>
            <a:ext cx="5149850" cy="1756172"/>
          </a:xfrm>
          <a:prstGeom prst="roundRect">
            <a:avLst>
              <a:gd name="adj" fmla="val 5605"/>
            </a:avLst>
          </a:prstGeom>
          <a:solidFill>
            <a:srgbClr val="17241B"/>
          </a:solidFill>
          <a:ln w="6350">
            <a:solidFill>
              <a:srgbClr val="2D5A38"/>
            </a:solidFill>
            <a:prstDash val="solid"/>
          </a:ln>
        </p:spPr>
      </p:sp>
      <p:sp>
        <p:nvSpPr>
          <p:cNvPr id="9" name="Text 7"/>
          <p:cNvSpPr/>
          <p:nvPr/>
        </p:nvSpPr>
        <p:spPr>
          <a:xfrm>
            <a:off x="6483350" y="2134791"/>
            <a:ext cx="4774565" cy="327620"/>
          </a:xfrm>
          <a:prstGeom prst="rect">
            <a:avLst/>
          </a:prstGeom>
          <a:noFill/>
          <a:ln/>
        </p:spPr>
        <p:txBody>
          <a:bodyPr wrap="square" lIns="0" tIns="0" rIns="0" bIns="0" rtlCol="0" anchor="t">
            <a:normAutofit/>
          </a:bodyPr>
          <a:lstStyle/>
          <a:p>
            <a:pPr algn="l" indent="0" marL="0">
              <a:lnSpc>
                <a:spcPts val="2380"/>
              </a:lnSpc>
              <a:buNone/>
            </a:pPr>
            <a:r>
              <a:rPr lang="en-US" sz="1700" b="1" dirty="0">
                <a:solidFill>
                  <a:srgbClr val="4AC97E"/>
                </a:solidFill>
                <a:latin typeface="IBM Plex Sans" pitchFamily="34" charset="0"/>
                <a:ea typeface="IBM Plex Sans" pitchFamily="34" charset="-122"/>
                <a:cs typeface="IBM Plex Sans" pitchFamily="34" charset="-120"/>
              </a:rPr>
              <a:t>Full RELRO</a:t>
            </a:r>
            <a:endParaRPr lang="en-US" sz="1700" dirty="0"/>
          </a:p>
        </p:txBody>
      </p:sp>
      <p:sp>
        <p:nvSpPr>
          <p:cNvPr id="10" name="Text 8"/>
          <p:cNvSpPr/>
          <p:nvPr/>
        </p:nvSpPr>
        <p:spPr>
          <a:xfrm>
            <a:off x="6483350" y="2551311"/>
            <a:ext cx="4774565" cy="238720"/>
          </a:xfrm>
          <a:prstGeom prst="rect">
            <a:avLst/>
          </a:prstGeom>
          <a:noFill/>
          <a:ln/>
        </p:spPr>
        <p:txBody>
          <a:bodyPr wrap="square" lIns="0" tIns="0" rIns="0" bIns="0" rtlCol="0" anchor="t">
            <a:normAutofit/>
          </a:bodyPr>
          <a:lstStyle/>
          <a:p>
            <a:pPr algn="l" indent="0" marL="0">
              <a:lnSpc>
                <a:spcPts val="1680"/>
              </a:lnSpc>
              <a:buNone/>
            </a:pPr>
            <a:r>
              <a:rPr lang="en-US" sz="1200" dirty="0">
                <a:solidFill>
                  <a:srgbClr val="9AA4B2"/>
                </a:solidFill>
                <a:latin typeface="JetBrains Mono" pitchFamily="49" charset="0"/>
                <a:ea typeface="JetBrains Mono" pitchFamily="49" charset="-122"/>
                <a:cs typeface="JetBrains Mono" pitchFamily="49" charset="-120"/>
              </a:rPr>
              <a:t>GOT is read-only</a:t>
            </a:r>
            <a:endParaRPr lang="en-US" sz="1200" dirty="0"/>
          </a:p>
        </p:txBody>
      </p:sp>
      <p:sp>
        <p:nvSpPr>
          <p:cNvPr id="11" name="Text 9"/>
          <p:cNvSpPr/>
          <p:nvPr/>
        </p:nvSpPr>
        <p:spPr>
          <a:xfrm>
            <a:off x="6483350" y="2878931"/>
            <a:ext cx="4774565" cy="523081"/>
          </a:xfrm>
          <a:prstGeom prst="rect">
            <a:avLst/>
          </a:prstGeom>
          <a:noFill/>
          <a:ln/>
        </p:spPr>
        <p:txBody>
          <a:bodyPr wrap="square" lIns="0" tIns="0" rIns="0" bIns="0" rtlCol="0" anchor="t">
            <a:normAutofit/>
          </a:bodyPr>
          <a:lstStyle/>
          <a:p>
            <a:pPr algn="l" indent="0" marL="0">
              <a:lnSpc>
                <a:spcPts val="1960"/>
              </a:lnSpc>
              <a:buNone/>
            </a:pPr>
            <a:r>
              <a:rPr lang="en-US" sz="1400" dirty="0">
                <a:solidFill>
                  <a:srgbClr val="C3CBD6"/>
                </a:solidFill>
                <a:latin typeface="IBM Plex Sans" pitchFamily="34" charset="0"/>
                <a:ea typeface="IBM Plex Sans" pitchFamily="34" charset="-122"/>
                <a:cs typeface="IBM Plex Sans" pitchFamily="34" charset="-120"/>
              </a:rPr>
              <a:t>That same write just segfaults. Cost: slower startup, so it isn't always on.</a:t>
            </a:r>
            <a:endParaRPr lang="en-US" sz="1400" dirty="0"/>
          </a:p>
        </p:txBody>
      </p:sp>
      <p:sp>
        <p:nvSpPr>
          <p:cNvPr id="12" name="Text 10"/>
          <p:cNvSpPr/>
          <p:nvPr/>
        </p:nvSpPr>
        <p:spPr>
          <a:xfrm>
            <a:off x="812800" y="3916362"/>
            <a:ext cx="10566400" cy="647700"/>
          </a:xfrm>
          <a:prstGeom prst="roundRect">
            <a:avLst>
              <a:gd name="adj" fmla="val 11765"/>
            </a:avLst>
          </a:prstGeom>
          <a:solidFill>
            <a:srgbClr val="1C2230"/>
          </a:solidFill>
          <a:ln/>
        </p:spPr>
        <p:txBody>
          <a:bodyPr wrap="square" lIns="206282" tIns="168182" rIns="0" bIns="142782" rtlCol="0" anchor="t">
            <a:normAutofit/>
          </a:bodyPr>
          <a:lstStyle/>
          <a:p>
            <a:pPr algn="l" indent="0" marL="0">
              <a:lnSpc>
                <a:spcPts val="2100"/>
              </a:lnSpc>
              <a:buNone/>
            </a:pPr>
            <a:r>
              <a:rPr lang="en-US" sz="1500" dirty="0">
                <a:solidFill>
                  <a:srgbClr val="E6E9EF"/>
                </a:solidFill>
                <a:latin typeface="IBM Plex Sans" pitchFamily="34" charset="0"/>
                <a:ea typeface="IBM Plex Sans" pitchFamily="34" charset="-122"/>
                <a:cs typeface="IBM Plex Sans" pitchFamily="34" charset="-120"/>
              </a:rPr>
              <a:t>Defenses are </a:t>
            </a:r>
            <a:r>
              <a:rPr lang="en-US" sz="1500" b="1" dirty="0">
                <a:solidFill>
                  <a:srgbClr val="F0B429"/>
                </a:solidFill>
                <a:latin typeface="IBM Plex Sans" pitchFamily="34" charset="0"/>
                <a:ea typeface="IBM Plex Sans" pitchFamily="34" charset="-122"/>
                <a:cs typeface="IBM Plex Sans" pitchFamily="34" charset="-120"/>
              </a:rPr>
              <a:t>per-surface</a:t>
            </a:r>
            <a:r>
              <a:rPr lang="en-US" sz="1500" dirty="0">
                <a:solidFill>
                  <a:srgbClr val="E6E9EF"/>
                </a:solidFill>
                <a:latin typeface="IBM Plex Sans" pitchFamily="34" charset="0"/>
                <a:ea typeface="IBM Plex Sans" pitchFamily="34" charset="-122"/>
                <a:cs typeface="IBM Plex Sans" pitchFamily="34" charset="-120"/>
              </a:rPr>
              <a:t>, not global. Full RELRO closes the GOT class entirely, yet our stack path still stands.</a:t>
            </a:r>
            <a:endParaRPr lang="en-US" sz="1500" dirty="0"/>
          </a:p>
        </p:txBody>
      </p:sp>
    </p:spTree>
  </p:cSld>
  <p:clrMapOvr>
    <a:masterClrMapping/>
  </p:clrMapOvr>
</p:sld>
</file>

<file path=ppt/theme/theme1.xml><?xml version="1.0" encoding="utf-8"?>
<a:theme xmlns:a="http://schemas.openxmlformats.org/drawingml/2006/main" name="From One Bug to a Shell">
  <a:themeElements>
    <a:clrScheme name="From One Bug to a Shell">
      <a:dk1>
        <a:srgbClr val="14181F"/>
      </a:dk1>
      <a:lt1>
        <a:srgbClr val="E6E9EF"/>
      </a:lt1>
      <a:dk2>
        <a:srgbClr val="292D34"/>
      </a:dk2>
      <a:lt2>
        <a:srgbClr val="B2B5BB"/>
      </a:lt2>
      <a:accent1>
        <a:srgbClr val="E3A008"/>
      </a:accent1>
      <a:accent2>
        <a:srgbClr val="4AC97E"/>
      </a:accent2>
      <a:accent3>
        <a:srgbClr val="F08A8A"/>
      </a:accent3>
      <a:accent4>
        <a:srgbClr val="3D2E05"/>
      </a:accent4>
      <a:accent5>
        <a:srgbClr val="F0B429"/>
      </a:accent5>
      <a:accent6>
        <a:srgbClr val="9AA4B2"/>
      </a:accent6>
      <a:hlink>
        <a:srgbClr val="0563C1"/>
      </a:hlink>
      <a:folHlink>
        <a:srgbClr val="954F72"/>
      </a:folHlink>
    </a:clrScheme>
    <a:fontScheme name="From One Bug to a Shell">
      <a:majorFont>
        <a:latin typeface="IBM Plex San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JetBrains Mono"/>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From One Bug to a Shell</dc:title>
  <dc:subject/>
  <dc:creator/>
  <cp:lastModifiedBy/>
  <cp:revision>1</cp:revision>
  <dcterms:created xsi:type="dcterms:W3CDTF">2026-10-19T11:27:14Z</dcterms:created>
  <dcterms:modified xsi:type="dcterms:W3CDTF">2026-10-19T11:27:14Z</dcterms:modified>
</cp:coreProperties>
</file>